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02" autoAdjust="0"/>
  </p:normalViewPr>
  <p:slideViewPr>
    <p:cSldViewPr snapToGrid="0" snapToObjects="1">
      <p:cViewPr varScale="1">
        <p:scale>
          <a:sx n="129" d="100"/>
          <a:sy n="129" d="100"/>
        </p:scale>
        <p:origin x="2724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A248B-784D-4956-9231-031977FF8C8B}" type="datetimeFigureOut">
              <a:rPr lang="es-EC" smtClean="0"/>
              <a:t>16/2/2026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5ED47-5528-4326-8C02-0C91303AE3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003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proyecto aborda un problema típico de analítica: segmentar usuarios cuando no existe una etiqueta objetivo. Al no tener ‘</a:t>
            </a:r>
            <a:r>
              <a:rPr lang="es-ES" dirty="0" err="1"/>
              <a:t>ground</a:t>
            </a:r>
            <a:r>
              <a:rPr lang="es-ES" dirty="0"/>
              <a:t> </a:t>
            </a:r>
            <a:r>
              <a:rPr lang="es-ES" dirty="0" err="1"/>
              <a:t>truth</a:t>
            </a:r>
            <a:r>
              <a:rPr lang="es-ES" dirty="0"/>
              <a:t>’, trabajamos con aprendizaje no supervisado y buscamos estructura latente en los datos. El dataset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citaschallenge.xlsx</a:t>
            </a:r>
            <a:r>
              <a:rPr lang="es-ES" dirty="0"/>
              <a:t> tiene 67,650 registros; para asegurar interpretabilidad y estabilidad, definimos un espacio de entrada de cuatro variables: género, edad, estado final y tipo de afiliación. El objetivo no es solo generar </a:t>
            </a:r>
            <a:r>
              <a:rPr lang="es-ES" dirty="0" err="1"/>
              <a:t>clusters</a:t>
            </a:r>
            <a:r>
              <a:rPr lang="es-ES" dirty="0"/>
              <a:t>; el objetivo real es producir perfiles comprensibles que permitan acciones: segmentación operativa, priorización y lectura de comportamiento. Para eso comparamos dos familias de </a:t>
            </a:r>
            <a:r>
              <a:rPr lang="es-ES" dirty="0" err="1"/>
              <a:t>clustering</a:t>
            </a:r>
            <a:r>
              <a:rPr lang="es-ES" dirty="0"/>
              <a:t>: K-Means, que particiona el conjunto completo, y DBSCAN, que agrupa por densidad y además identifica </a:t>
            </a:r>
            <a:r>
              <a:rPr lang="es-ES" dirty="0" err="1"/>
              <a:t>outliers</a:t>
            </a:r>
            <a:r>
              <a:rPr lang="es-ES" dirty="0"/>
              <a:t> como ‘ruido’.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3004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Antes de entrenar cualquier algoritmo basado en distancia o densidad, necesito entender la forma de los datos. Esta visualización resume distribuciones y relaciones entre las cuatro variables usadas. Se observa que las variables categóricas aparecen como bandas discretas —lo cual es normal porque se codifican numéricamente— y que la edad presenta dispersión amplia. Este paso es clave porque tanto K-Means como DBSCAN pueden verse afectados por escalas y codificaciones: si no controlo esto, el modelo puede ‘</a:t>
            </a:r>
            <a:r>
              <a:rPr lang="es-ES" dirty="0" err="1"/>
              <a:t>clusterizar</a:t>
            </a:r>
            <a:r>
              <a:rPr lang="es-ES" dirty="0"/>
              <a:t>’ por artefactos y no por patrón real. Por eso el EDA aquí no es decorativo: valida que el espacio de entrada tiene una forma consistente y que es razonable pasar a estandarización y modelado.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29230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muestro la correlación entre variables para entender si existe una relación lineal fuerte que sesgue el </a:t>
            </a:r>
            <a:r>
              <a:rPr lang="es-ES" dirty="0" err="1"/>
              <a:t>clustering</a:t>
            </a:r>
            <a:r>
              <a:rPr lang="es-ES" dirty="0"/>
              <a:t>. En general las correlaciones son bajas, lo cual es útil: sugiere que no hay una única variable explicándolo todo en forma lineal. La relación más visible es género contra tipo de afiliación con aproximadamente -0.22, que indica cierta asociación inversa, pero no es tan fuerte como para dominar por sí sola. Esto significa que el valor del </a:t>
            </a:r>
            <a:r>
              <a:rPr lang="es-ES" dirty="0" err="1"/>
              <a:t>clustering</a:t>
            </a:r>
            <a:r>
              <a:rPr lang="es-ES" dirty="0"/>
              <a:t> viene de combinar señales: edad, estado final y afiliación interactuando en el espacio. Con esto listo, pasamos a modelos y a la selección de hiperparámetros de forma defendible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976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K-Means el parámetro crítico es k, el número de </a:t>
            </a:r>
            <a:r>
              <a:rPr lang="es-ES" dirty="0" err="1"/>
              <a:t>clusters</a:t>
            </a:r>
            <a:r>
              <a:rPr lang="es-ES" dirty="0"/>
              <a:t>. Aquí uso el método del codo con la inercia —la suma de distancias internas— para identificar dónde la mejora marginal comienza a disminuir. Se observa una caída fuerte para pocos </a:t>
            </a:r>
            <a:r>
              <a:rPr lang="es-ES" dirty="0" err="1"/>
              <a:t>clusters</a:t>
            </a:r>
            <a:r>
              <a:rPr lang="es-ES" dirty="0"/>
              <a:t> y luego una reducción más lenta. Ese cambio de pendiente es el ‘codo’. Técnicamente, podría seguir aumentando k y reducir inercia, pero a costa de perder interpretabilidad y ganar complejidad sin retorno real. Por eso escogemos k=5: es un punto de equilibrio, produce segmentos manejables y se alinea con evidencia adicional que muestro en la siguiente lámina con </a:t>
            </a:r>
            <a:r>
              <a:rPr lang="es-ES" dirty="0" err="1"/>
              <a:t>silhouette</a:t>
            </a:r>
            <a:r>
              <a:rPr lang="es-ES" dirty="0"/>
              <a:t>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19863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ADC1-DAF7-DB9F-7A64-9C2FB5C3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226222F-7DE5-05D1-51EC-F3BE28949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DF91B8-DE95-E4C3-FB20-B07284E1D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Silhouette</a:t>
            </a:r>
            <a:r>
              <a:rPr lang="es-ES" dirty="0"/>
              <a:t> mide qué tan bien están separados los </a:t>
            </a:r>
            <a:r>
              <a:rPr lang="es-ES" dirty="0" err="1"/>
              <a:t>clusters</a:t>
            </a:r>
            <a:r>
              <a:rPr lang="es-ES" dirty="0"/>
              <a:t>: valores más altos indican </a:t>
            </a:r>
            <a:r>
              <a:rPr lang="es-ES" dirty="0" err="1"/>
              <a:t>clusters</a:t>
            </a:r>
            <a:r>
              <a:rPr lang="es-ES" dirty="0"/>
              <a:t> más compactos y mejor separados. Aquí vemos una mejora al aumentar k, y en particular k=5 da alrededor de 0.37, mientras que k=6 sube ligeramente. Entonces, ¿por qué no k=6? Porque la selección no depende solo de maximizar una métrica: depende del trade-off entre ganancia marginal y complejidad/interpretabilidad. El método del codo sugiere que después de un punto la mejora marginal es menor; y esa lectura, combinada con </a:t>
            </a:r>
            <a:r>
              <a:rPr lang="es-ES" dirty="0" err="1"/>
              <a:t>silhouette</a:t>
            </a:r>
            <a:r>
              <a:rPr lang="es-ES" dirty="0"/>
              <a:t>, respalda k=5 como un punto robusto y explicable. En proyectos reales, esta defensa es importante: que la elección sea reproducible y argumentable</a:t>
            </a:r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A6D8A2-0AFB-EA39-A441-84CAB2496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6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0276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DBSCAN cambia el enfoque: no elijo k, elijo densidad. Ajusto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eps</a:t>
            </a:r>
            <a:r>
              <a:rPr lang="es-ES" dirty="0"/>
              <a:t> —radio de vecindad— y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min_samples</a:t>
            </a:r>
            <a:r>
              <a:rPr lang="es-ES" dirty="0"/>
              <a:t> —puntos mínimos para considerar una región densa—. Para hacerlo defendible, ejecuto una búsqueda en grilla y evalúo cada combinación reportando: número de </a:t>
            </a:r>
            <a:r>
              <a:rPr lang="es-ES" dirty="0" err="1"/>
              <a:t>clusters</a:t>
            </a:r>
            <a:r>
              <a:rPr lang="es-ES" dirty="0"/>
              <a:t> resultante, proporción de ruido y </a:t>
            </a:r>
            <a:r>
              <a:rPr lang="es-ES" dirty="0" err="1"/>
              <a:t>silhouette</a:t>
            </a:r>
            <a:r>
              <a:rPr lang="es-ES" dirty="0"/>
              <a:t>. La mejor configuración según </a:t>
            </a:r>
            <a:r>
              <a:rPr lang="es-ES" dirty="0" err="1"/>
              <a:t>silhouette</a:t>
            </a:r>
            <a:r>
              <a:rPr lang="es-ES" dirty="0"/>
              <a:t> fue </a:t>
            </a:r>
            <a:r>
              <a:rPr lang="es-ES" dirty="0" err="1"/>
              <a:t>eps</a:t>
            </a:r>
            <a:r>
              <a:rPr lang="es-ES" dirty="0"/>
              <a:t>=0.3 y </a:t>
            </a:r>
            <a:r>
              <a:rPr lang="es-ES" dirty="0" err="1"/>
              <a:t>min_samples</a:t>
            </a:r>
            <a:r>
              <a:rPr lang="es-ES" dirty="0"/>
              <a:t>=30: produce 16 </a:t>
            </a:r>
            <a:r>
              <a:rPr lang="es-ES" dirty="0" err="1"/>
              <a:t>clusters</a:t>
            </a:r>
            <a:r>
              <a:rPr lang="es-ES" dirty="0"/>
              <a:t> y solo 3.59% de ruido, con un </a:t>
            </a:r>
            <a:r>
              <a:rPr lang="es-ES" dirty="0" err="1"/>
              <a:t>silhouette</a:t>
            </a:r>
            <a:r>
              <a:rPr lang="es-ES" dirty="0"/>
              <a:t> cercano a 0.50, que es una señal de separación interna bastante fuerte. Esta es una ventaja clara frente a K-Means: DBSCAN puede separar </a:t>
            </a:r>
            <a:r>
              <a:rPr lang="es-ES" dirty="0" err="1"/>
              <a:t>outliers</a:t>
            </a:r>
            <a:r>
              <a:rPr lang="es-ES" dirty="0"/>
              <a:t> como ruido en lugar de forzarlos dentro de un </a:t>
            </a:r>
            <a:r>
              <a:rPr lang="es-ES" dirty="0" err="1"/>
              <a:t>cluster</a:t>
            </a:r>
            <a:r>
              <a:rPr lang="es-ES" dirty="0"/>
              <a:t>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66488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muestro el resultado de K-Means con k=5. La característica principal de este modelo es que particiona completamente el dataset: cada uno de los 67,650 registros queda asignado a un </a:t>
            </a:r>
            <a:r>
              <a:rPr lang="es-ES" dirty="0" err="1"/>
              <a:t>cluster</a:t>
            </a:r>
            <a:r>
              <a:rPr lang="es-ES" dirty="0"/>
              <a:t>. En estos </a:t>
            </a:r>
            <a:r>
              <a:rPr lang="es-ES" dirty="0" err="1"/>
              <a:t>scatter</a:t>
            </a:r>
            <a:r>
              <a:rPr lang="es-ES" dirty="0"/>
              <a:t> </a:t>
            </a:r>
            <a:r>
              <a:rPr lang="es-ES" dirty="0" err="1"/>
              <a:t>plots</a:t>
            </a:r>
            <a:r>
              <a:rPr lang="es-ES" dirty="0"/>
              <a:t> vemos cómo los </a:t>
            </a:r>
            <a:r>
              <a:rPr lang="es-ES" dirty="0" err="1"/>
              <a:t>clusters</a:t>
            </a:r>
            <a:r>
              <a:rPr lang="es-ES" dirty="0"/>
              <a:t> se distribuyen respecto a edad y estado final, y respecto a edad y tipo de afiliación. Dado que estado y afiliación son categóricas codificadas, aparecen como bandas discretas; lo relevante es cómo los </a:t>
            </a:r>
            <a:r>
              <a:rPr lang="es-ES" dirty="0" err="1"/>
              <a:t>clusters</a:t>
            </a:r>
            <a:r>
              <a:rPr lang="es-ES" dirty="0"/>
              <a:t> ocupan regiones distintas en estas bandas, lo cual permite interpretación. En un contexto de negocio, K-Means suele ser útil cuando necesito segmentación total para campañas o estrategias por perfil.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23844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DBSCAN entrega un resultado cualitativamente distinto: identifica regiones densas y además marca como ruido los puntos que no pertenecen a ninguna región suficientemente densa. Con </a:t>
            </a:r>
            <a:r>
              <a:rPr lang="es-ES" dirty="0" err="1"/>
              <a:t>eps</a:t>
            </a:r>
            <a:r>
              <a:rPr lang="es-ES" dirty="0"/>
              <a:t>=0.3 y </a:t>
            </a:r>
            <a:r>
              <a:rPr lang="es-ES" dirty="0" err="1"/>
              <a:t>min_samples</a:t>
            </a:r>
            <a:r>
              <a:rPr lang="es-ES" dirty="0"/>
              <a:t>=30 obtenemos 16 </a:t>
            </a:r>
            <a:r>
              <a:rPr lang="es-ES" dirty="0" err="1"/>
              <a:t>clusters</a:t>
            </a:r>
            <a:r>
              <a:rPr lang="es-ES" dirty="0"/>
              <a:t>, y alrededor de 3.59% de registros quedan como ruido, lo que es valioso porque evita forzar asignaciones artificiales. La métrica </a:t>
            </a:r>
            <a:r>
              <a:rPr lang="es-ES" dirty="0" err="1"/>
              <a:t>silhouette</a:t>
            </a:r>
            <a:r>
              <a:rPr lang="es-ES" dirty="0"/>
              <a:t> sin ruido es 0.4997, indicando que los </a:t>
            </a:r>
            <a:r>
              <a:rPr lang="es-ES" dirty="0" err="1"/>
              <a:t>clusters</a:t>
            </a:r>
            <a:r>
              <a:rPr lang="es-ES" dirty="0"/>
              <a:t> válidos están bien separados internamente. En la práctica, DBSCAN es muy útil cuando quiero detectar perfiles densos y separar casos atípicos para tratamiento especial, por ejemplo, revisión o reglas de negocio.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7020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comparativo se hace sobre una muestra de 10,000 registros para visualizar de forma clara. A la izquierda, K-Means con 5 </a:t>
            </a:r>
            <a:r>
              <a:rPr lang="es-ES" dirty="0" err="1"/>
              <a:t>clusters</a:t>
            </a:r>
            <a:r>
              <a:rPr lang="es-ES" dirty="0"/>
              <a:t> produce una segmentación uniforme: todo punto recibe una etiqueta. A la derecha, DBSCAN genera 16 </a:t>
            </a:r>
            <a:r>
              <a:rPr lang="es-ES" dirty="0" err="1"/>
              <a:t>clusters</a:t>
            </a:r>
            <a:r>
              <a:rPr lang="es-ES" dirty="0"/>
              <a:t> y además conserva una categoría de ruido; eso permite que el modelo represente densidad real. La lectura técnica es: K-Means funciona muy bien cuando busco segmentación operativa y consistente; DBSCAN es preferible cuando la estructura real puede ser irregular y cuando quiero separar atípicos. Por eso la decisión final depende del objetivo: cobertura total y simplicidad (K-Means) vs detección de densidad y </a:t>
            </a:r>
            <a:r>
              <a:rPr lang="es-ES" dirty="0" err="1"/>
              <a:t>outliers</a:t>
            </a:r>
            <a:r>
              <a:rPr lang="es-ES" dirty="0"/>
              <a:t> (DBSCAN).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10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2641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volver el </a:t>
            </a:r>
            <a:r>
              <a:rPr lang="es-ES" dirty="0" err="1"/>
              <a:t>clustering</a:t>
            </a:r>
            <a:r>
              <a:rPr lang="es-ES" dirty="0"/>
              <a:t> accionable, traduzco etiquetas a perfiles. Aquí muestro el resumen promedio por </a:t>
            </a:r>
            <a:r>
              <a:rPr lang="es-ES" dirty="0" err="1"/>
              <a:t>cluster</a:t>
            </a:r>
            <a:r>
              <a:rPr lang="es-ES" dirty="0"/>
              <a:t> de K-Means. Por ejemplo, el </a:t>
            </a:r>
            <a:r>
              <a:rPr lang="es-ES" dirty="0" err="1"/>
              <a:t>cluster</a:t>
            </a:r>
            <a:r>
              <a:rPr lang="es-ES" dirty="0"/>
              <a:t> 3 tiene la mayor edad promedio, ~41.4, y un estado final promedio cercano a 1.83; mientras que el </a:t>
            </a:r>
            <a:r>
              <a:rPr lang="es-ES" dirty="0" err="1"/>
              <a:t>cluster</a:t>
            </a:r>
            <a:r>
              <a:rPr lang="es-ES" dirty="0"/>
              <a:t> 0 presenta estado final promedio 3.0 y edad ~37.4. Este tipo de diferencias es lo que permite etiquetar perfiles de forma consistente. También vemos que algunos </a:t>
            </a:r>
            <a:r>
              <a:rPr lang="es-ES" dirty="0" err="1"/>
              <a:t>clusters</a:t>
            </a:r>
            <a:r>
              <a:rPr lang="es-ES" dirty="0"/>
              <a:t> se alinean con afiliación promedio alta —por ejemplo, </a:t>
            </a:r>
            <a:r>
              <a:rPr lang="es-ES" dirty="0" err="1"/>
              <a:t>clusters</a:t>
            </a:r>
            <a:r>
              <a:rPr lang="es-ES" dirty="0"/>
              <a:t> con tipo de afiliación promedio cercano a 3—, lo que sugiere que el modelo está capturando estructura relacionada con afiliación. Esta tabla es clave para la presentación: no es ‘una nube de puntos’, sino un resumen cuantitativo de perfiles.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11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4377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uso dos técnicas de reducción dimensional como evidencia visual. PCA proyecta el espacio escalado a dos dimensiones preservando estructura lineal global: si los </a:t>
            </a:r>
            <a:r>
              <a:rPr lang="es-ES" dirty="0" err="1"/>
              <a:t>clusters</a:t>
            </a:r>
            <a:r>
              <a:rPr lang="es-ES" dirty="0"/>
              <a:t> tienen coherencia, tienden a formar regiones distinguibles. t-SNE, en cambio, enfatiza vecindarios locales y suele revelar mejor la separación cuando la estructura es no lineal. Importante: estas técnicas no se usan para ‘entrenar’ el </a:t>
            </a:r>
            <a:r>
              <a:rPr lang="es-ES" dirty="0" err="1"/>
              <a:t>cluster</a:t>
            </a:r>
            <a:r>
              <a:rPr lang="es-ES" dirty="0"/>
              <a:t>, sino para validar visualmente que las etiquetas tienen sentido geométrico. En presentaciones técnicas, esto refuerza confianza: tengo métricas y además tengo evidencia visual de separación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12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8678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resumen: K-Means con k=5 ofrece una segmentación operativa y completa, con una calidad interna razonable según </a:t>
            </a:r>
            <a:r>
              <a:rPr lang="es-ES" dirty="0" err="1"/>
              <a:t>silhouette</a:t>
            </a:r>
            <a:r>
              <a:rPr lang="es-ES" dirty="0"/>
              <a:t>, alrededor de 0.37 para k=5. DBSCAN, con </a:t>
            </a:r>
            <a:r>
              <a:rPr lang="es-ES" dirty="0" err="1"/>
              <a:t>eps</a:t>
            </a:r>
            <a:r>
              <a:rPr lang="es-ES" dirty="0"/>
              <a:t>=0.3 y </a:t>
            </a:r>
            <a:r>
              <a:rPr lang="es-ES" dirty="0" err="1"/>
              <a:t>min_samples</a:t>
            </a:r>
            <a:r>
              <a:rPr lang="es-ES" dirty="0"/>
              <a:t>=30, produce 16 </a:t>
            </a:r>
            <a:r>
              <a:rPr lang="es-ES" dirty="0" err="1"/>
              <a:t>clusters</a:t>
            </a:r>
            <a:r>
              <a:rPr lang="es-ES" dirty="0"/>
              <a:t> con un 3.59% de ruido, y una </a:t>
            </a:r>
            <a:r>
              <a:rPr lang="es-ES" dirty="0" err="1"/>
              <a:t>silhouette</a:t>
            </a:r>
            <a:r>
              <a:rPr lang="es-ES" dirty="0"/>
              <a:t> sin ruido de 0.4997, lo cual indica </a:t>
            </a:r>
            <a:r>
              <a:rPr lang="es-ES" dirty="0" err="1"/>
              <a:t>clusters</a:t>
            </a:r>
            <a:r>
              <a:rPr lang="es-ES" dirty="0"/>
              <a:t> más densos y mejor separados cuando excluyo </a:t>
            </a:r>
            <a:r>
              <a:rPr lang="es-ES" dirty="0" err="1"/>
              <a:t>outliers</a:t>
            </a:r>
            <a:r>
              <a:rPr lang="es-ES" dirty="0"/>
              <a:t>. La recomendación depende del objetivo: si necesito segmentación total para accionar sobre toda la base, K-Means es ideal; si necesito detectar estructura por densidad y separar atípicos, DBSCAN aporta más valor. Para elevar rigor, lo siguiente sería medir estabilidad por </a:t>
            </a:r>
            <a:r>
              <a:rPr lang="es-ES" dirty="0" err="1"/>
              <a:t>remuestreo</a:t>
            </a:r>
            <a:r>
              <a:rPr lang="es-ES" dirty="0"/>
              <a:t> y sensibilidad a escalado, porque ambos modelos dependen de distancias. Y a nivel de uso, el paso más importante es traducir perfiles a acciones concretas y tratar el ruido como una cola especial.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5ED47-5528-4326-8C02-0C91303AE335}" type="slidenum">
              <a:rPr lang="es-EC" smtClean="0"/>
              <a:t>13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5981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323232"/>
                </a:solidFill>
              </a:defRPr>
            </a:pPr>
            <a:r>
              <a:rPr lang="es-EC" noProof="0" dirty="0"/>
              <a:t>Segmentación de Usuarios con Aprendizaje No Supervisado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noProof="0" dirty="0"/>
              <a:t>Presentación generada automáticamente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s-EC" sz="33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Introducción del problema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0721" y="502920"/>
            <a:ext cx="517093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s-EC" sz="1200" b="1" noProof="0" dirty="0"/>
              <a:t>Segmentación no supervisada de usuarios (</a:t>
            </a:r>
            <a:r>
              <a:rPr lang="es-EC" sz="1200" b="1" noProof="0" dirty="0" err="1"/>
              <a:t>Clustering</a:t>
            </a:r>
            <a:r>
              <a:rPr lang="es-EC" sz="1200" b="1" noProof="0" dirty="0"/>
              <a:t>)</a:t>
            </a:r>
            <a:endParaRPr lang="es-EC" sz="1200" noProof="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200" b="1" noProof="0" dirty="0"/>
              <a:t>Dataset:</a:t>
            </a:r>
            <a:r>
              <a:rPr lang="es-EC" sz="1200" noProof="0" dirty="0"/>
              <a:t> citaschallenge.xlsx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200" b="1" noProof="0" dirty="0"/>
              <a:t>Tamaño:</a:t>
            </a:r>
            <a:r>
              <a:rPr lang="es-EC" sz="1200" noProof="0" dirty="0"/>
              <a:t> </a:t>
            </a:r>
            <a:r>
              <a:rPr lang="es-EC" sz="1200" b="1" noProof="0" dirty="0"/>
              <a:t>N = 67,650</a:t>
            </a:r>
            <a:r>
              <a:rPr lang="es-EC" sz="1200" noProof="0" dirty="0"/>
              <a:t> registros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200" b="1" noProof="0" dirty="0"/>
              <a:t>Variables usadas (4):</a:t>
            </a:r>
            <a:r>
              <a:rPr lang="es-EC" sz="1200" noProof="0" dirty="0"/>
              <a:t> GENERO, EDAD, ESTAFINAL, TIPO_AFILIACION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200" b="1" noProof="0" dirty="0"/>
              <a:t>Objetivo:</a:t>
            </a:r>
            <a:r>
              <a:rPr lang="es-EC" sz="1200" noProof="0" dirty="0"/>
              <a:t> encontrar </a:t>
            </a:r>
            <a:r>
              <a:rPr lang="es-EC" sz="1200" b="1" noProof="0" dirty="0"/>
              <a:t>perfiles interpretables</a:t>
            </a:r>
            <a:r>
              <a:rPr lang="es-EC" sz="1200" noProof="0" dirty="0"/>
              <a:t> para segmentación y decisión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200" b="1" noProof="0" dirty="0"/>
              <a:t>Modelos:</a:t>
            </a:r>
            <a:r>
              <a:rPr lang="es-EC" sz="1200" noProof="0" dirty="0"/>
              <a:t> </a:t>
            </a:r>
            <a:r>
              <a:rPr lang="es-EC" sz="1200" b="1" noProof="0" dirty="0"/>
              <a:t>K-Means</a:t>
            </a:r>
            <a:r>
              <a:rPr lang="es-EC" sz="1200" noProof="0" dirty="0"/>
              <a:t> vs </a:t>
            </a:r>
            <a:r>
              <a:rPr lang="es-EC" sz="1200" b="1" noProof="0" dirty="0"/>
              <a:t>DBSCAN</a:t>
            </a:r>
            <a:r>
              <a:rPr lang="es-EC" sz="1200" noProof="0" dirty="0"/>
              <a:t> (con validación y comparación)</a:t>
            </a:r>
          </a:p>
        </p:txBody>
      </p:sp>
      <p:pic>
        <p:nvPicPr>
          <p:cNvPr id="6" name="Marcador de contenido 5" descr="Tabla&#10;&#10;El contenido generado por IA puede ser incorrecto.">
            <a:extLst>
              <a:ext uri="{FF2B5EF4-FFF2-40B4-BE49-F238E27FC236}">
                <a16:creationId xmlns:a16="http://schemas.microsoft.com/office/drawing/2014/main" id="{DA2A5D6B-6871-C80E-04FE-CFC85DBED3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-2" t="14455" r="5" b="3"/>
          <a:stretch>
            <a:fillRect/>
          </a:stretch>
        </p:blipFill>
        <p:spPr>
          <a:xfrm>
            <a:off x="473202" y="2759676"/>
            <a:ext cx="8188452" cy="3172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s-EC" sz="33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Exploración inicial: distribuciones y estructura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3202" y="2660904"/>
            <a:ext cx="3614166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s-EC" sz="1600" noProof="0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s-EC" sz="1600" b="1" noProof="0" dirty="0"/>
              <a:t>EDA (Exploración):</a:t>
            </a:r>
            <a:r>
              <a:rPr lang="es-EC" sz="1600" noProof="0" dirty="0"/>
              <a:t> ¿cómo se ven las variables antes de modelar?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600" noProof="0" dirty="0"/>
              <a:t>Verificación de rangos y dispersión en </a:t>
            </a:r>
            <a:r>
              <a:rPr lang="es-EC" sz="1600" b="1" noProof="0" dirty="0"/>
              <a:t>EDAD</a:t>
            </a:r>
            <a:endParaRPr lang="es-EC" sz="1600" noProof="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600" noProof="0" dirty="0"/>
              <a:t>Variables categóricas codificadas (niveles discretos)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600" noProof="0" dirty="0"/>
              <a:t>Señal: estructura por “bandas” (categorías) → relevante para </a:t>
            </a:r>
            <a:r>
              <a:rPr lang="es-EC" sz="1600" noProof="0" dirty="0" err="1"/>
              <a:t>clustering</a:t>
            </a:r>
            <a:r>
              <a:rPr lang="es-EC" sz="1600" noProof="0" dirty="0"/>
              <a:t> por distancia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s-EC" sz="1600" b="1" noProof="0" dirty="0"/>
              <a:t>KPI en una esquina</a:t>
            </a:r>
            <a:endParaRPr lang="es-EC" sz="1600" noProof="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600" b="1" noProof="0" dirty="0"/>
              <a:t>N = 67,650</a:t>
            </a:r>
            <a:endParaRPr lang="es-EC" sz="1600" noProof="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C" sz="1600" b="1" noProof="0" dirty="0"/>
              <a:t>Features = 4</a:t>
            </a:r>
            <a:endParaRPr lang="es-EC" sz="1600" noProof="0" dirty="0"/>
          </a:p>
        </p:txBody>
      </p:sp>
      <p:pic>
        <p:nvPicPr>
          <p:cNvPr id="6" name="Marcador de contenido 5" descr="Calendario&#10;&#10;El contenido generado por IA puede ser incorrecto.">
            <a:extLst>
              <a:ext uri="{FF2B5EF4-FFF2-40B4-BE49-F238E27FC236}">
                <a16:creationId xmlns:a16="http://schemas.microsoft.com/office/drawing/2014/main" id="{1966645C-09AB-0CE6-592F-58C9481249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79333" y="254726"/>
            <a:ext cx="4841579" cy="5030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Relaciones entre variables: correlación</a:t>
            </a:r>
            <a:endParaRPr lang="en-US" sz="2900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500" b="1" dirty="0" err="1"/>
              <a:t>Matriz</a:t>
            </a:r>
            <a:r>
              <a:rPr lang="en-US" sz="1500" b="1" dirty="0"/>
              <a:t> de </a:t>
            </a:r>
            <a:r>
              <a:rPr lang="en-US" sz="1500" b="1" dirty="0" err="1"/>
              <a:t>correlación</a:t>
            </a:r>
            <a:r>
              <a:rPr lang="en-US" sz="1500" b="1" dirty="0"/>
              <a:t> (</a:t>
            </a:r>
            <a:r>
              <a:rPr lang="en-US" sz="1500" b="1" dirty="0" err="1"/>
              <a:t>señal</a:t>
            </a:r>
            <a:r>
              <a:rPr lang="en-US" sz="1500" b="1" dirty="0"/>
              <a:t> lineal):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Correlaciones</a:t>
            </a:r>
            <a:r>
              <a:rPr lang="en-US" sz="1500" dirty="0"/>
              <a:t> </a:t>
            </a:r>
            <a:r>
              <a:rPr lang="en-US" sz="1500" b="1" dirty="0" err="1"/>
              <a:t>bajas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general → no hay </a:t>
            </a:r>
            <a:r>
              <a:rPr lang="en-US" sz="1500" dirty="0" err="1"/>
              <a:t>una</a:t>
            </a:r>
            <a:r>
              <a:rPr lang="en-US" sz="1500" dirty="0"/>
              <a:t> sola variable </a:t>
            </a:r>
            <a:r>
              <a:rPr lang="en-US" sz="1500" dirty="0" err="1"/>
              <a:t>dominando</a:t>
            </a:r>
            <a:r>
              <a:rPr lang="en-US" sz="1500" dirty="0"/>
              <a:t> </a:t>
            </a:r>
            <a:r>
              <a:rPr lang="en-US" sz="1500" dirty="0" err="1"/>
              <a:t>linealmente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Relación</a:t>
            </a:r>
            <a:r>
              <a:rPr lang="en-US" sz="1500" dirty="0"/>
              <a:t> </a:t>
            </a:r>
            <a:r>
              <a:rPr lang="en-US" sz="1500" dirty="0" err="1"/>
              <a:t>más</a:t>
            </a:r>
            <a:r>
              <a:rPr lang="en-US" sz="1500" dirty="0"/>
              <a:t> </a:t>
            </a:r>
            <a:r>
              <a:rPr lang="en-US" sz="1500" dirty="0" err="1"/>
              <a:t>marcada</a:t>
            </a:r>
            <a:r>
              <a:rPr lang="en-US" sz="1500" dirty="0"/>
              <a:t>: </a:t>
            </a:r>
            <a:r>
              <a:rPr lang="en-US" sz="1500" b="1" dirty="0"/>
              <a:t>GENERO vs TIPO_AFILIACION ≈ -0.22</a:t>
            </a:r>
            <a:endParaRPr lang="en-US" sz="15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Implicación</a:t>
            </a:r>
            <a:r>
              <a:rPr lang="en-US" sz="1500" dirty="0"/>
              <a:t>: clustering </a:t>
            </a:r>
            <a:r>
              <a:rPr lang="en-US" sz="1500" dirty="0" err="1"/>
              <a:t>dependerá</a:t>
            </a:r>
            <a:r>
              <a:rPr lang="en-US" sz="1500" dirty="0"/>
              <a:t> </a:t>
            </a:r>
            <a:r>
              <a:rPr lang="en-US" sz="1500" dirty="0" err="1"/>
              <a:t>más</a:t>
            </a:r>
            <a:r>
              <a:rPr lang="en-US" sz="1500" dirty="0"/>
              <a:t> de </a:t>
            </a:r>
            <a:r>
              <a:rPr lang="en-US" sz="1500" dirty="0" err="1"/>
              <a:t>estructura</a:t>
            </a:r>
            <a:r>
              <a:rPr lang="en-US" sz="1500" dirty="0"/>
              <a:t> </a:t>
            </a:r>
            <a:r>
              <a:rPr lang="en-US" sz="1500" dirty="0" err="1"/>
              <a:t>multivariada</a:t>
            </a:r>
            <a:r>
              <a:rPr lang="en-US" sz="1500" dirty="0"/>
              <a:t> </a:t>
            </a:r>
            <a:r>
              <a:rPr lang="en-US" sz="1500" dirty="0" err="1"/>
              <a:t>que</a:t>
            </a:r>
            <a:r>
              <a:rPr lang="en-US" sz="1500" dirty="0"/>
              <a:t> de </a:t>
            </a:r>
            <a:r>
              <a:rPr lang="en-US" sz="1500" dirty="0" err="1"/>
              <a:t>una</a:t>
            </a:r>
            <a:r>
              <a:rPr lang="en-US" sz="1500" dirty="0"/>
              <a:t> </a:t>
            </a:r>
            <a:r>
              <a:rPr lang="en-US" sz="1500" dirty="0" err="1"/>
              <a:t>relación</a:t>
            </a:r>
            <a:r>
              <a:rPr lang="en-US" sz="1500" dirty="0"/>
              <a:t> lineal simple</a:t>
            </a:r>
          </a:p>
        </p:txBody>
      </p:sp>
      <p:pic>
        <p:nvPicPr>
          <p:cNvPr id="9" name="Marcador de contenido 8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FB24CF5D-86B9-502D-B7B2-2BDF38FB6B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90722" y="1357884"/>
            <a:ext cx="5177790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3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Metodología</a:t>
            </a:r>
            <a:r>
              <a:rPr lang="en-U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técnicas</a:t>
            </a:r>
            <a:r>
              <a:rPr lang="en-U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aplicadas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A7DBA2A-EB29-FABB-D85A-E92C1CA3AA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90722" y="1036472"/>
            <a:ext cx="5170932" cy="31025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0722" y="4798577"/>
            <a:ext cx="5170932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600" b="1" dirty="0"/>
              <a:t>K-Means — </a:t>
            </a:r>
            <a:r>
              <a:rPr lang="en-US" sz="1600" b="1" dirty="0" err="1"/>
              <a:t>Selección</a:t>
            </a:r>
            <a:r>
              <a:rPr lang="en-US" sz="1600" b="1" dirty="0"/>
              <a:t> de k (</a:t>
            </a:r>
            <a:r>
              <a:rPr lang="en-US" sz="1600" b="1" dirty="0" err="1"/>
              <a:t>Método</a:t>
            </a:r>
            <a:r>
              <a:rPr lang="en-US" sz="1600" b="1" dirty="0"/>
              <a:t> del </a:t>
            </a:r>
            <a:r>
              <a:rPr lang="en-US" sz="1600" b="1" dirty="0" err="1"/>
              <a:t>codo</a:t>
            </a:r>
            <a:r>
              <a:rPr lang="en-US" sz="1600" b="1" dirty="0"/>
              <a:t>)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Inercia</a:t>
            </a:r>
            <a:r>
              <a:rPr lang="en-US" sz="1600" dirty="0"/>
              <a:t> </a:t>
            </a:r>
            <a:r>
              <a:rPr lang="en-US" sz="1600" dirty="0" err="1"/>
              <a:t>cae</a:t>
            </a:r>
            <a:r>
              <a:rPr lang="en-US" sz="1600" dirty="0"/>
              <a:t> </a:t>
            </a:r>
            <a:r>
              <a:rPr lang="en-US" sz="1600" dirty="0" err="1"/>
              <a:t>rápido</a:t>
            </a:r>
            <a:r>
              <a:rPr lang="en-US" sz="1600" dirty="0"/>
              <a:t> al </a:t>
            </a:r>
            <a:r>
              <a:rPr lang="en-US" sz="1600" dirty="0" err="1"/>
              <a:t>inicio</a:t>
            </a:r>
            <a:r>
              <a:rPr lang="en-US" sz="1600" dirty="0"/>
              <a:t> y luego </a:t>
            </a:r>
            <a:r>
              <a:rPr lang="en-US" sz="1600" dirty="0" err="1"/>
              <a:t>mejora</a:t>
            </a:r>
            <a:r>
              <a:rPr lang="en-US" sz="1600" dirty="0"/>
              <a:t> marginal </a:t>
            </a:r>
            <a:r>
              <a:rPr lang="en-US" sz="1600" dirty="0" err="1"/>
              <a:t>disminuye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Punto de trade-off (</a:t>
            </a:r>
            <a:r>
              <a:rPr lang="en-US" sz="1600" dirty="0" err="1"/>
              <a:t>interpretabilidad</a:t>
            </a:r>
            <a:r>
              <a:rPr lang="en-US" sz="1600" dirty="0"/>
              <a:t> vs </a:t>
            </a:r>
            <a:r>
              <a:rPr lang="en-US" sz="1600" dirty="0" err="1"/>
              <a:t>ganancia</a:t>
            </a:r>
            <a:r>
              <a:rPr lang="en-US" sz="1600" dirty="0"/>
              <a:t>): </a:t>
            </a:r>
            <a:r>
              <a:rPr lang="en-US" sz="1600" b="1" dirty="0"/>
              <a:t>k ≈ 5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Decisión: </a:t>
            </a:r>
            <a:r>
              <a:rPr lang="en-US" sz="1600" b="1" dirty="0"/>
              <a:t>k = 5</a:t>
            </a:r>
            <a:r>
              <a:rPr lang="en-US" sz="1600" dirty="0"/>
              <a:t> para </a:t>
            </a:r>
            <a:r>
              <a:rPr lang="en-US" sz="1600" dirty="0" err="1"/>
              <a:t>segmentación</a:t>
            </a:r>
            <a:r>
              <a:rPr lang="en-US" sz="1600" dirty="0"/>
              <a:t> interpretable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4932E-F9D8-B7F5-1E5E-A718F439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9A721-FF08-918B-5FF6-5FCD531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3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Metodología</a:t>
            </a:r>
            <a:r>
              <a:rPr lang="en-U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técnicas</a:t>
            </a:r>
            <a:r>
              <a:rPr lang="en-U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aplicadas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Marcador de contenido 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51B2F58-E8FB-44F9-320E-771EEF72A5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90722" y="1036472"/>
            <a:ext cx="5170932" cy="31025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B5742-616F-B2C1-5D3D-74FA230D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0722" y="4798577"/>
            <a:ext cx="5170932" cy="142848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s-EC" b="1" dirty="0"/>
              <a:t>K-Means — </a:t>
            </a:r>
            <a:r>
              <a:rPr lang="es-EC" b="1" dirty="0" err="1"/>
              <a:t>Silhouette</a:t>
            </a:r>
            <a:r>
              <a:rPr lang="es-EC" b="1" dirty="0"/>
              <a:t> (calidad interna)</a:t>
            </a:r>
            <a:endParaRPr lang="es-EC" dirty="0"/>
          </a:p>
          <a:p>
            <a:r>
              <a:rPr lang="es-EC" dirty="0" err="1"/>
              <a:t>Silhouette</a:t>
            </a:r>
            <a:r>
              <a:rPr lang="es-EC" dirty="0"/>
              <a:t> mejora con k</a:t>
            </a:r>
          </a:p>
          <a:p>
            <a:r>
              <a:rPr lang="es-EC" dirty="0"/>
              <a:t>Valores observados (aprox.):</a:t>
            </a:r>
          </a:p>
          <a:p>
            <a:pPr lvl="1"/>
            <a:r>
              <a:rPr lang="es-EC" b="1" dirty="0"/>
              <a:t>k=5 → ~0.37</a:t>
            </a:r>
            <a:endParaRPr lang="es-EC" dirty="0"/>
          </a:p>
          <a:p>
            <a:pPr lvl="1"/>
            <a:r>
              <a:rPr lang="es-EC" b="1" dirty="0"/>
              <a:t>k=6 → ~0.385</a:t>
            </a:r>
            <a:endParaRPr lang="es-EC" dirty="0"/>
          </a:p>
          <a:p>
            <a:r>
              <a:rPr lang="es-EC" dirty="0"/>
              <a:t>Decisión final: </a:t>
            </a:r>
            <a:r>
              <a:rPr lang="es-EC" b="1" dirty="0"/>
              <a:t>k=5</a:t>
            </a:r>
            <a:r>
              <a:rPr lang="es-EC" dirty="0"/>
              <a:t> (mejor trade-off + consistencia con codo)</a:t>
            </a:r>
          </a:p>
        </p:txBody>
      </p:sp>
    </p:spTree>
    <p:extLst>
      <p:ext uri="{BB962C8B-B14F-4D97-AF65-F5344CB8AC3E}">
        <p14:creationId xmlns:p14="http://schemas.microsoft.com/office/powerpoint/2010/main" val="421541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3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Metodología</a:t>
            </a:r>
            <a:r>
              <a:rPr lang="en-U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técnicas</a:t>
            </a:r>
            <a:r>
              <a:rPr lang="en-U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aplicadas</a:t>
            </a:r>
            <a:endParaRPr lang="en-US" sz="3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5" descr="Tabla&#10;&#10;El contenido generado por IA puede ser incorrecto.">
            <a:extLst>
              <a:ext uri="{FF2B5EF4-FFF2-40B4-BE49-F238E27FC236}">
                <a16:creationId xmlns:a16="http://schemas.microsoft.com/office/drawing/2014/main" id="{B561C979-1D29-1F1E-52B6-682EBEC35B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90722" y="758535"/>
            <a:ext cx="5170932" cy="365843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0722" y="4798577"/>
            <a:ext cx="5170932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200" b="1" dirty="0"/>
              <a:t>DBSCAN — </a:t>
            </a:r>
            <a:r>
              <a:rPr lang="en-US" sz="1200" b="1" dirty="0" err="1"/>
              <a:t>Selección</a:t>
            </a:r>
            <a:r>
              <a:rPr lang="en-US" sz="1200" b="1" dirty="0"/>
              <a:t> de </a:t>
            </a:r>
            <a:r>
              <a:rPr lang="en-US" sz="1200" b="1" dirty="0" err="1"/>
              <a:t>parámetros</a:t>
            </a:r>
            <a:r>
              <a:rPr lang="en-US" sz="1200" b="1" dirty="0"/>
              <a:t> (grid search)</a:t>
            </a:r>
            <a:br>
              <a:rPr lang="en-US" sz="1200" dirty="0"/>
            </a:br>
            <a:r>
              <a:rPr lang="en-US" sz="1200" b="1" dirty="0"/>
              <a:t>Mejor </a:t>
            </a:r>
            <a:r>
              <a:rPr lang="en-US" sz="1200" b="1" dirty="0" err="1"/>
              <a:t>configuración</a:t>
            </a:r>
            <a:r>
              <a:rPr lang="en-US" sz="1200" b="1" dirty="0"/>
              <a:t> (</a:t>
            </a:r>
            <a:r>
              <a:rPr lang="en-US" sz="1200" b="1" dirty="0" err="1"/>
              <a:t>por</a:t>
            </a:r>
            <a:r>
              <a:rPr lang="en-US" sz="1200" b="1" dirty="0"/>
              <a:t> silhouette):</a:t>
            </a:r>
            <a:endParaRPr lang="en-US" sz="12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eps = 0.3,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min_samples</a:t>
            </a:r>
            <a:r>
              <a:rPr lang="en-US" sz="1200" dirty="0"/>
              <a:t> = 30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#clusters = 16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ruido</a:t>
            </a:r>
            <a:r>
              <a:rPr lang="en-US" sz="1200" dirty="0"/>
              <a:t> = 3.59%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silhouette (sin </a:t>
            </a:r>
            <a:r>
              <a:rPr lang="en-US" sz="1200" dirty="0" err="1"/>
              <a:t>ruido</a:t>
            </a:r>
            <a:r>
              <a:rPr lang="en-US" sz="1200" dirty="0"/>
              <a:t>) = 0.4997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s-ES" sz="3600" dirty="0"/>
              <a:t>Segmentación K-Means (edad vs estado / afiliación)</a:t>
            </a:r>
            <a:endParaRPr lang="en-US" sz="3200" noProof="0" dirty="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55947" y="457200"/>
            <a:ext cx="4505706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300" b="1" dirty="0"/>
              <a:t>K-Means (k=5) — </a:t>
            </a:r>
            <a:r>
              <a:rPr lang="en-US" sz="1300" b="1" dirty="0" err="1"/>
              <a:t>segmentación</a:t>
            </a:r>
            <a:r>
              <a:rPr lang="en-US" sz="1300" b="1" dirty="0"/>
              <a:t> </a:t>
            </a:r>
            <a:r>
              <a:rPr lang="en-US" sz="1300" b="1" dirty="0" err="1"/>
              <a:t>operativa</a:t>
            </a:r>
            <a:endParaRPr lang="en-US" sz="13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Clusters </a:t>
            </a:r>
            <a:r>
              <a:rPr lang="en-US" sz="1300" dirty="0" err="1"/>
              <a:t>asignados</a:t>
            </a:r>
            <a:r>
              <a:rPr lang="en-US" sz="1300" dirty="0"/>
              <a:t> a </a:t>
            </a:r>
            <a:r>
              <a:rPr lang="en-US" sz="1300" b="1" dirty="0" err="1"/>
              <a:t>todos</a:t>
            </a:r>
            <a:r>
              <a:rPr lang="en-US" sz="1300" dirty="0"/>
              <a:t> </a:t>
            </a:r>
            <a:r>
              <a:rPr lang="en-US" sz="1300" dirty="0" err="1"/>
              <a:t>los</a:t>
            </a:r>
            <a:r>
              <a:rPr lang="en-US" sz="1300" dirty="0"/>
              <a:t> </a:t>
            </a:r>
            <a:r>
              <a:rPr lang="en-US" sz="1300" dirty="0" err="1"/>
              <a:t>registros</a:t>
            </a:r>
            <a:endParaRPr lang="en-US" sz="13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Visualmente</a:t>
            </a:r>
            <a:r>
              <a:rPr lang="en-US" sz="1300" dirty="0"/>
              <a:t> se </a:t>
            </a:r>
            <a:r>
              <a:rPr lang="en-US" sz="1300" dirty="0" err="1"/>
              <a:t>observan</a:t>
            </a:r>
            <a:r>
              <a:rPr lang="en-US" sz="1300" dirty="0"/>
              <a:t> “</a:t>
            </a:r>
            <a:r>
              <a:rPr lang="en-US" sz="1300" dirty="0" err="1"/>
              <a:t>bandas</a:t>
            </a:r>
            <a:r>
              <a:rPr lang="en-US" sz="1300" dirty="0"/>
              <a:t>” </a:t>
            </a:r>
            <a:r>
              <a:rPr lang="en-US" sz="1300" dirty="0" err="1"/>
              <a:t>por</a:t>
            </a:r>
            <a:r>
              <a:rPr lang="en-US" sz="1300" dirty="0"/>
              <a:t> variables </a:t>
            </a:r>
            <a:r>
              <a:rPr lang="en-US" sz="1300" dirty="0" err="1"/>
              <a:t>categóricas</a:t>
            </a:r>
            <a:endParaRPr lang="en-US" sz="13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Enfoque</a:t>
            </a:r>
            <a:r>
              <a:rPr lang="en-US" sz="1300" dirty="0"/>
              <a:t>: </a:t>
            </a:r>
            <a:r>
              <a:rPr lang="en-US" sz="1300" dirty="0" err="1"/>
              <a:t>perfiles</a:t>
            </a:r>
            <a:r>
              <a:rPr lang="en-US" sz="1300" dirty="0"/>
              <a:t> </a:t>
            </a:r>
            <a:r>
              <a:rPr lang="en-US" sz="1300" dirty="0" err="1"/>
              <a:t>interpretables</a:t>
            </a:r>
            <a:r>
              <a:rPr lang="en-US" sz="1300" dirty="0"/>
              <a:t> </a:t>
            </a:r>
            <a:r>
              <a:rPr lang="en-US" sz="1300" dirty="0" err="1"/>
              <a:t>por</a:t>
            </a:r>
            <a:r>
              <a:rPr lang="en-US" sz="1300" dirty="0"/>
              <a:t> </a:t>
            </a:r>
            <a:r>
              <a:rPr lang="en-US" sz="1300" dirty="0" err="1"/>
              <a:t>promedios</a:t>
            </a:r>
            <a:r>
              <a:rPr lang="en-US" sz="1300" dirty="0"/>
              <a:t>/</a:t>
            </a:r>
            <a:r>
              <a:rPr lang="en-US" sz="1300" dirty="0" err="1"/>
              <a:t>medianas</a:t>
            </a:r>
            <a:endParaRPr lang="en-US" sz="1300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300" b="1" dirty="0"/>
              <a:t>KPI</a:t>
            </a:r>
            <a:endParaRPr lang="en-US" sz="13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/>
              <a:t>k = 5</a:t>
            </a:r>
            <a:endParaRPr lang="en-US" sz="13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/>
              <a:t>N = 67,650</a:t>
            </a:r>
            <a:r>
              <a:rPr lang="en-US" sz="1300" dirty="0"/>
              <a:t> (</a:t>
            </a:r>
            <a:r>
              <a:rPr lang="en-US" sz="1300" dirty="0" err="1"/>
              <a:t>asignación</a:t>
            </a:r>
            <a:r>
              <a:rPr lang="en-US" sz="1300" dirty="0"/>
              <a:t> total)</a:t>
            </a:r>
          </a:p>
        </p:txBody>
      </p:sp>
      <p:pic>
        <p:nvPicPr>
          <p:cNvPr id="8" name="Imagen 7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3BF41D96-3388-C757-744D-D3D55343C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3178606"/>
            <a:ext cx="4101084" cy="2460651"/>
          </a:xfrm>
          <a:prstGeom prst="rect">
            <a:avLst/>
          </a:prstGeom>
        </p:spPr>
      </p:pic>
      <p:pic>
        <p:nvPicPr>
          <p:cNvPr id="6" name="Marcador de contenido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E592F94-3FC2-930F-4132-F8A0DDA9A5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90872" y="3178606"/>
            <a:ext cx="4101084" cy="24606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3300"/>
              <a:t>Segmentación DBSCAN (edad vs estado / afiliación) + Ruido</a:t>
            </a:r>
            <a:endParaRPr lang="en-US" sz="3300" noProof="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55947" y="457200"/>
            <a:ext cx="4505706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900" b="1" dirty="0"/>
              <a:t>DBSCAN — </a:t>
            </a:r>
            <a:r>
              <a:rPr lang="en-US" sz="1900" b="1" dirty="0" err="1"/>
              <a:t>densidad</a:t>
            </a:r>
            <a:r>
              <a:rPr lang="en-US" sz="1900" b="1" dirty="0"/>
              <a:t> + </a:t>
            </a:r>
            <a:r>
              <a:rPr lang="en-US" sz="1900" b="1" dirty="0" err="1"/>
              <a:t>detección</a:t>
            </a:r>
            <a:r>
              <a:rPr lang="en-US" sz="1900" b="1" dirty="0"/>
              <a:t> de outliers</a:t>
            </a:r>
            <a:endParaRPr lang="en-US" sz="19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#clusters = 16</a:t>
            </a:r>
            <a:endParaRPr lang="en-US" sz="19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 err="1"/>
              <a:t>ruido</a:t>
            </a:r>
            <a:r>
              <a:rPr lang="en-US" sz="1900" b="1" dirty="0"/>
              <a:t> = 3.59%</a:t>
            </a:r>
            <a:r>
              <a:rPr lang="en-US" sz="1900" dirty="0"/>
              <a:t> (</a:t>
            </a:r>
            <a:r>
              <a:rPr lang="en-US" sz="1900" dirty="0" err="1"/>
              <a:t>registros</a:t>
            </a:r>
            <a:r>
              <a:rPr lang="en-US" sz="1900" dirty="0"/>
              <a:t> </a:t>
            </a:r>
            <a:r>
              <a:rPr lang="en-US" sz="1900" dirty="0" err="1"/>
              <a:t>atípicos</a:t>
            </a:r>
            <a:r>
              <a:rPr lang="en-US" sz="1900" dirty="0"/>
              <a:t>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Silhouette (sin </a:t>
            </a:r>
            <a:r>
              <a:rPr lang="en-US" sz="1900" dirty="0" err="1"/>
              <a:t>ruido</a:t>
            </a:r>
            <a:r>
              <a:rPr lang="en-US" sz="1900" dirty="0"/>
              <a:t>) </a:t>
            </a:r>
            <a:r>
              <a:rPr lang="en-US" sz="1900" b="1" dirty="0"/>
              <a:t>0.4997</a:t>
            </a:r>
            <a:endParaRPr lang="en-US" sz="1900" dirty="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noProof="0" dirty="0"/>
          </a:p>
        </p:txBody>
      </p:sp>
      <p:pic>
        <p:nvPicPr>
          <p:cNvPr id="8" name="Imagen 7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D3F0267E-CD74-0296-9584-CBC90231A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" y="3178606"/>
            <a:ext cx="4101084" cy="2460651"/>
          </a:xfrm>
          <a:prstGeom prst="rect">
            <a:avLst/>
          </a:prstGeom>
        </p:spPr>
      </p:pic>
      <p:pic>
        <p:nvPicPr>
          <p:cNvPr id="6" name="Marcador de contenido 5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7AADE009-7D4A-C469-1EA7-EFADF4F7FD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90872" y="3178606"/>
            <a:ext cx="4101084" cy="24606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Comparativo visual (muestra 10k) + lectura técnica</a:t>
            </a:r>
            <a:endParaRPr lang="en-US" sz="3600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D83EFA2-2E9B-22F1-A8DB-DE61B4F607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90722" y="739144"/>
            <a:ext cx="5170932" cy="369721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0722" y="4798577"/>
            <a:ext cx="5170932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200" b="1" dirty="0" err="1"/>
              <a:t>Comparativo</a:t>
            </a:r>
            <a:r>
              <a:rPr lang="en-US" sz="1200" b="1" dirty="0"/>
              <a:t> (</a:t>
            </a:r>
            <a:r>
              <a:rPr lang="en-US" sz="1200" b="1" dirty="0" err="1"/>
              <a:t>muestra</a:t>
            </a:r>
            <a:r>
              <a:rPr lang="en-US" sz="1200" b="1" dirty="0"/>
              <a:t> 10k)</a:t>
            </a:r>
            <a:endParaRPr lang="en-US" sz="12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K-Means: </a:t>
            </a:r>
            <a:r>
              <a:rPr lang="en-US" sz="1200" b="1" dirty="0"/>
              <a:t>k=5</a:t>
            </a:r>
            <a:r>
              <a:rPr lang="en-US" sz="1200" dirty="0"/>
              <a:t>, </a:t>
            </a:r>
            <a:r>
              <a:rPr lang="en-US" sz="1200" dirty="0" err="1"/>
              <a:t>asignación</a:t>
            </a:r>
            <a:r>
              <a:rPr lang="en-US" sz="1200" dirty="0"/>
              <a:t> total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DBSCAN: </a:t>
            </a:r>
            <a:r>
              <a:rPr lang="en-US" sz="1200" b="1" dirty="0"/>
              <a:t>16 clusters + 3.59% </a:t>
            </a:r>
            <a:r>
              <a:rPr lang="en-US" sz="1200" b="1" dirty="0" err="1"/>
              <a:t>ruido</a:t>
            </a:r>
            <a:endParaRPr lang="en-US" sz="12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DBSCAN </a:t>
            </a:r>
            <a:r>
              <a:rPr lang="en-US" sz="1200" dirty="0" err="1"/>
              <a:t>muestra</a:t>
            </a:r>
            <a:r>
              <a:rPr lang="en-US" sz="1200" dirty="0"/>
              <a:t> clusters </a:t>
            </a:r>
            <a:r>
              <a:rPr lang="en-US" sz="1200" dirty="0" err="1"/>
              <a:t>más</a:t>
            </a:r>
            <a:r>
              <a:rPr lang="en-US" sz="1200" dirty="0"/>
              <a:t> “</a:t>
            </a:r>
            <a:r>
              <a:rPr lang="en-US" sz="1200" dirty="0" err="1"/>
              <a:t>densos</a:t>
            </a:r>
            <a:r>
              <a:rPr lang="en-US" sz="1200" dirty="0"/>
              <a:t>”; K-Means es </a:t>
            </a:r>
            <a:r>
              <a:rPr lang="en-US" sz="1200" dirty="0" err="1"/>
              <a:t>más</a:t>
            </a:r>
            <a:r>
              <a:rPr lang="en-US" sz="1200" dirty="0"/>
              <a:t> </a:t>
            </a:r>
            <a:r>
              <a:rPr lang="en-US" sz="1200" dirty="0" err="1"/>
              <a:t>estable</a:t>
            </a:r>
            <a:r>
              <a:rPr lang="en-US" sz="1200" dirty="0"/>
              <a:t>/</a:t>
            </a:r>
            <a:r>
              <a:rPr lang="en-US" sz="1200" dirty="0" err="1"/>
              <a:t>operativo</a:t>
            </a:r>
            <a:endParaRPr lang="en-US" sz="1200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200" b="1" dirty="0"/>
              <a:t>KPI</a:t>
            </a:r>
            <a:endParaRPr lang="en-US" sz="12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 err="1"/>
              <a:t>muestra</a:t>
            </a:r>
            <a:r>
              <a:rPr lang="en-US" sz="1200" b="1" dirty="0"/>
              <a:t> = 10,000</a:t>
            </a:r>
            <a:r>
              <a:rPr lang="en-US" sz="1200" dirty="0"/>
              <a:t> (</a:t>
            </a:r>
            <a:r>
              <a:rPr lang="en-US" sz="1200" dirty="0" err="1"/>
              <a:t>como</a:t>
            </a:r>
            <a:r>
              <a:rPr lang="en-US" sz="1200" dirty="0"/>
              <a:t> indica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gráfico</a:t>
            </a:r>
            <a:r>
              <a:rPr lang="en-US" sz="1200"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3300" dirty="0" err="1"/>
              <a:t>Conclusiones</a:t>
            </a:r>
            <a:r>
              <a:rPr lang="en-US" sz="3300" dirty="0"/>
              <a:t> y </a:t>
            </a:r>
            <a:r>
              <a:rPr lang="en-US" sz="3300" dirty="0" err="1"/>
              <a:t>recomendaciones</a:t>
            </a:r>
            <a:endParaRPr lang="en-US" sz="3300" noProof="0" dirty="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55947" y="457200"/>
            <a:ext cx="4505706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900" b="1" dirty="0"/>
              <a:t>K-Means — </a:t>
            </a:r>
            <a:r>
              <a:rPr lang="en-US" sz="1900" b="1" dirty="0" err="1"/>
              <a:t>perfiles</a:t>
            </a:r>
            <a:r>
              <a:rPr lang="en-US" sz="1900" b="1" dirty="0"/>
              <a:t> </a:t>
            </a:r>
            <a:r>
              <a:rPr lang="en-US" sz="1900" b="1" dirty="0" err="1"/>
              <a:t>promedio</a:t>
            </a:r>
            <a:r>
              <a:rPr lang="en-US" sz="1900" b="1" dirty="0"/>
              <a:t> </a:t>
            </a:r>
            <a:r>
              <a:rPr lang="en-US" sz="1900" b="1" dirty="0" err="1"/>
              <a:t>por</a:t>
            </a:r>
            <a:r>
              <a:rPr lang="en-US" sz="1900" b="1" dirty="0"/>
              <a:t> cluster (k=5)</a:t>
            </a:r>
            <a:endParaRPr lang="en-US" sz="19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Los clusters se </a:t>
            </a:r>
            <a:r>
              <a:rPr lang="en-US" sz="1900" dirty="0" err="1"/>
              <a:t>diferencian</a:t>
            </a:r>
            <a:r>
              <a:rPr lang="en-US" sz="1900" dirty="0"/>
              <a:t> </a:t>
            </a:r>
            <a:r>
              <a:rPr lang="en-US" sz="1900" dirty="0" err="1"/>
              <a:t>en</a:t>
            </a:r>
            <a:r>
              <a:rPr lang="en-US" sz="1900" dirty="0"/>
              <a:t> </a:t>
            </a:r>
            <a:r>
              <a:rPr lang="en-US" sz="1900" b="1" dirty="0" err="1"/>
              <a:t>edad</a:t>
            </a:r>
            <a:r>
              <a:rPr lang="en-US" sz="1900" b="1" dirty="0"/>
              <a:t> </a:t>
            </a:r>
            <a:r>
              <a:rPr lang="en-US" sz="1900" b="1" dirty="0" err="1"/>
              <a:t>promedio</a:t>
            </a:r>
            <a:r>
              <a:rPr lang="en-US" sz="1900" dirty="0"/>
              <a:t> y </a:t>
            </a:r>
            <a:r>
              <a:rPr lang="en-US" sz="1900" b="1" dirty="0" err="1"/>
              <a:t>estado</a:t>
            </a:r>
            <a:r>
              <a:rPr lang="en-US" sz="1900" b="1" dirty="0"/>
              <a:t> final</a:t>
            </a:r>
            <a:endParaRPr lang="en-US" sz="19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Se </a:t>
            </a:r>
            <a:r>
              <a:rPr lang="en-US" sz="1900" dirty="0" err="1"/>
              <a:t>observa</a:t>
            </a:r>
            <a:r>
              <a:rPr lang="en-US" sz="1900" dirty="0"/>
              <a:t> </a:t>
            </a:r>
            <a:r>
              <a:rPr lang="en-US" sz="1900" dirty="0" err="1"/>
              <a:t>separación</a:t>
            </a:r>
            <a:r>
              <a:rPr lang="en-US" sz="1900" dirty="0"/>
              <a:t> </a:t>
            </a:r>
            <a:r>
              <a:rPr lang="en-US" sz="1900" dirty="0" err="1"/>
              <a:t>por</a:t>
            </a:r>
            <a:r>
              <a:rPr lang="en-US" sz="1900" dirty="0"/>
              <a:t> </a:t>
            </a:r>
            <a:r>
              <a:rPr lang="en-US" sz="1900" b="1" dirty="0" err="1"/>
              <a:t>tipo</a:t>
            </a:r>
            <a:r>
              <a:rPr lang="en-US" sz="1900" b="1" dirty="0"/>
              <a:t> de </a:t>
            </a:r>
            <a:r>
              <a:rPr lang="en-US" sz="1900" b="1" dirty="0" err="1"/>
              <a:t>afiliación</a:t>
            </a:r>
            <a:r>
              <a:rPr lang="en-US" sz="1900" dirty="0"/>
              <a:t> </a:t>
            </a:r>
            <a:r>
              <a:rPr lang="en-US" sz="1900" dirty="0" err="1"/>
              <a:t>en</a:t>
            </a:r>
            <a:r>
              <a:rPr lang="en-US" sz="1900" dirty="0"/>
              <a:t> </a:t>
            </a:r>
            <a:r>
              <a:rPr lang="en-US" sz="1900" dirty="0" err="1"/>
              <a:t>algunos</a:t>
            </a:r>
            <a:r>
              <a:rPr lang="en-US" sz="1900" dirty="0"/>
              <a:t> clusters</a:t>
            </a:r>
          </a:p>
        </p:txBody>
      </p:sp>
      <p:pic>
        <p:nvPicPr>
          <p:cNvPr id="6" name="Marcador de contenido 5" descr="Texto, Carta&#10;&#10;El contenido generado por IA puede ser incorrecto.">
            <a:extLst>
              <a:ext uri="{FF2B5EF4-FFF2-40B4-BE49-F238E27FC236}">
                <a16:creationId xmlns:a16="http://schemas.microsoft.com/office/drawing/2014/main" id="{3E23A830-47F6-8CBF-1229-C79429B69E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214" y="2569464"/>
            <a:ext cx="3550172" cy="3678936"/>
          </a:xfrm>
          <a:prstGeom prst="rect">
            <a:avLst/>
          </a:prstGeom>
        </p:spPr>
      </p:pic>
      <p:pic>
        <p:nvPicPr>
          <p:cNvPr id="8" name="Imagen 7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574D3BA5-C180-D2BC-3028-9BCCEFF05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383661"/>
            <a:ext cx="4101084" cy="2050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5239511" cy="17764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4700" noProof="0"/>
              <a:t>Conclusiones y recomendaciones</a:t>
            </a:r>
          </a:p>
        </p:txBody>
      </p:sp>
      <p:pic>
        <p:nvPicPr>
          <p:cNvPr id="8" name="Imagen 7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C8DBDB7F-ED02-653B-1E2D-8F1D73C3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934" y="114690"/>
            <a:ext cx="3328650" cy="1997190"/>
          </a:xfrm>
          <a:prstGeom prst="rect">
            <a:avLst/>
          </a:pr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31569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486" y="2504819"/>
            <a:ext cx="3714581" cy="36721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900" b="1" dirty="0" err="1"/>
              <a:t>Validación</a:t>
            </a:r>
            <a:r>
              <a:rPr lang="en-US" sz="1900" b="1" dirty="0"/>
              <a:t> visual del clustering</a:t>
            </a:r>
            <a:endParaRPr lang="en-US" sz="19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PCA 2D:</a:t>
            </a:r>
            <a:r>
              <a:rPr lang="en-US" sz="1900" dirty="0"/>
              <a:t> </a:t>
            </a:r>
            <a:r>
              <a:rPr lang="en-US" sz="1900" dirty="0" err="1"/>
              <a:t>evidencia</a:t>
            </a:r>
            <a:r>
              <a:rPr lang="en-US" sz="1900" dirty="0"/>
              <a:t> global (lineal)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t-SNE:</a:t>
            </a:r>
            <a:r>
              <a:rPr lang="en-US" sz="1900" dirty="0"/>
              <a:t> </a:t>
            </a:r>
            <a:r>
              <a:rPr lang="en-US" sz="1900" dirty="0" err="1"/>
              <a:t>evidencia</a:t>
            </a:r>
            <a:r>
              <a:rPr lang="en-US" sz="1900" dirty="0"/>
              <a:t> local/no lineal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Ayuda a </a:t>
            </a:r>
            <a:r>
              <a:rPr lang="en-US" sz="1900" dirty="0" err="1"/>
              <a:t>confirmar</a:t>
            </a:r>
            <a:r>
              <a:rPr lang="en-US" sz="1900" dirty="0"/>
              <a:t> </a:t>
            </a:r>
            <a:r>
              <a:rPr lang="en-US" sz="1900" dirty="0" err="1"/>
              <a:t>separación</a:t>
            </a:r>
            <a:r>
              <a:rPr lang="en-US" sz="1900" dirty="0"/>
              <a:t> </a:t>
            </a:r>
            <a:r>
              <a:rPr lang="en-US" sz="1900" dirty="0" err="1"/>
              <a:t>cualitativa</a:t>
            </a:r>
            <a:r>
              <a:rPr lang="en-US" sz="1900" dirty="0"/>
              <a:t> de clusters</a:t>
            </a:r>
          </a:p>
        </p:txBody>
      </p:sp>
      <p:pic>
        <p:nvPicPr>
          <p:cNvPr id="10" name="Imagen 9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42043A5A-F41F-A3C9-1100-91425BD55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483" y="2170677"/>
            <a:ext cx="3257549" cy="2280285"/>
          </a:xfrm>
          <a:prstGeom prst="rect">
            <a:avLst/>
          </a:prstGeom>
        </p:spPr>
      </p:pic>
      <p:pic>
        <p:nvPicPr>
          <p:cNvPr id="6" name="Marcador de contenido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3866D90-D4AE-C804-FA5D-362DBFD118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604934" y="4619042"/>
            <a:ext cx="3328649" cy="19971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323232"/>
                </a:solidFill>
              </a:defRPr>
            </a:pPr>
            <a:r>
              <a:rPr lang="en-US" sz="2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Conclusiones</a:t>
            </a:r>
            <a:r>
              <a:rPr lang="en-US" sz="2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6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recomendaciones</a:t>
            </a:r>
            <a:endParaRPr lang="en-US" sz="26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1E19BD1-C9D7-B518-163E-5FA87D3D07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17571" y="438765"/>
            <a:ext cx="5591043" cy="39975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0722" y="4563533"/>
            <a:ext cx="5219446" cy="21251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050" b="1" dirty="0" err="1"/>
              <a:t>Conclusiones</a:t>
            </a:r>
            <a:r>
              <a:rPr lang="en-US" sz="1050" b="1" dirty="0"/>
              <a:t> (con </a:t>
            </a:r>
            <a:r>
              <a:rPr lang="en-US" sz="1050" b="1" dirty="0" err="1"/>
              <a:t>evidencia</a:t>
            </a:r>
            <a:r>
              <a:rPr lang="en-US" sz="1050" b="1" dirty="0"/>
              <a:t>):</a:t>
            </a:r>
            <a:endParaRPr lang="en-US" sz="105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b="1" dirty="0"/>
              <a:t>K-Means:</a:t>
            </a:r>
            <a:r>
              <a:rPr lang="en-US" sz="1050" dirty="0"/>
              <a:t> </a:t>
            </a:r>
            <a:r>
              <a:rPr lang="en-US" sz="1050" b="1" dirty="0"/>
              <a:t>k=5</a:t>
            </a:r>
            <a:r>
              <a:rPr lang="en-US" sz="1050" dirty="0"/>
              <a:t>, </a:t>
            </a:r>
            <a:r>
              <a:rPr lang="en-US" sz="1050" dirty="0" err="1"/>
              <a:t>segmentación</a:t>
            </a:r>
            <a:r>
              <a:rPr lang="en-US" sz="1050" dirty="0"/>
              <a:t> total; silhouette ~</a:t>
            </a:r>
            <a:r>
              <a:rPr lang="en-US" sz="1050" b="1" dirty="0"/>
              <a:t>0.37</a:t>
            </a:r>
            <a:r>
              <a:rPr lang="en-US" sz="1050" dirty="0"/>
              <a:t> (k=5)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b="1" dirty="0"/>
              <a:t>DBSCAN:</a:t>
            </a:r>
            <a:r>
              <a:rPr lang="en-US" sz="1050" dirty="0"/>
              <a:t> </a:t>
            </a:r>
            <a:r>
              <a:rPr lang="en-US" sz="1050" b="1" dirty="0"/>
              <a:t>16 clusters</a:t>
            </a:r>
            <a:r>
              <a:rPr lang="en-US" sz="1050" dirty="0"/>
              <a:t>, </a:t>
            </a:r>
            <a:r>
              <a:rPr lang="en-US" sz="1050" b="1" dirty="0"/>
              <a:t>3.59% </a:t>
            </a:r>
            <a:r>
              <a:rPr lang="en-US" sz="1050" b="1" dirty="0" err="1"/>
              <a:t>ruido</a:t>
            </a:r>
            <a:r>
              <a:rPr lang="en-US" sz="1050" dirty="0"/>
              <a:t>, silhouette </a:t>
            </a:r>
            <a:r>
              <a:rPr lang="en-US" sz="1050" b="1" dirty="0"/>
              <a:t>0.4997</a:t>
            </a:r>
            <a:endParaRPr lang="en-US" sz="105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dirty="0" err="1"/>
              <a:t>Evidencia</a:t>
            </a:r>
            <a:r>
              <a:rPr lang="en-US" sz="1050" dirty="0"/>
              <a:t>: </a:t>
            </a:r>
            <a:r>
              <a:rPr lang="en-US" sz="1050" dirty="0" err="1"/>
              <a:t>codo</a:t>
            </a:r>
            <a:r>
              <a:rPr lang="en-US" sz="1050" dirty="0"/>
              <a:t> + silhouette + </a:t>
            </a:r>
            <a:r>
              <a:rPr lang="en-US" sz="1050" dirty="0" err="1"/>
              <a:t>comparativo</a:t>
            </a:r>
            <a:r>
              <a:rPr lang="en-US" sz="1050" dirty="0"/>
              <a:t> + PCA/t-SNE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050" b="1" dirty="0" err="1"/>
              <a:t>Recomendaciones</a:t>
            </a:r>
            <a:r>
              <a:rPr lang="en-US" sz="1050" b="1" dirty="0"/>
              <a:t> </a:t>
            </a:r>
            <a:r>
              <a:rPr lang="en-US" sz="1050" b="1" dirty="0" err="1"/>
              <a:t>técnicas</a:t>
            </a:r>
            <a:r>
              <a:rPr lang="en-US" sz="1050" b="1" dirty="0"/>
              <a:t> (</a:t>
            </a:r>
            <a:r>
              <a:rPr lang="en-US" sz="1050" b="1" dirty="0" err="1"/>
              <a:t>próximos</a:t>
            </a:r>
            <a:r>
              <a:rPr lang="en-US" sz="1050" b="1" dirty="0"/>
              <a:t> pasos):</a:t>
            </a:r>
            <a:endParaRPr lang="en-US" sz="105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Validar </a:t>
            </a:r>
            <a:r>
              <a:rPr lang="en-US" sz="1050" dirty="0" err="1"/>
              <a:t>estabilidad</a:t>
            </a:r>
            <a:r>
              <a:rPr lang="en-US" sz="1050" dirty="0"/>
              <a:t> (</a:t>
            </a:r>
            <a:r>
              <a:rPr lang="en-US" sz="1050" dirty="0" err="1"/>
              <a:t>remuestreo</a:t>
            </a:r>
            <a:r>
              <a:rPr lang="en-US" sz="1050" dirty="0"/>
              <a:t>/bootstrapping)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dirty="0" err="1"/>
              <a:t>Probar</a:t>
            </a:r>
            <a:r>
              <a:rPr lang="en-US" sz="1050" dirty="0"/>
              <a:t> </a:t>
            </a:r>
            <a:r>
              <a:rPr lang="en-US" sz="1050" dirty="0" err="1"/>
              <a:t>escaladores</a:t>
            </a:r>
            <a:r>
              <a:rPr lang="en-US" sz="1050" dirty="0"/>
              <a:t> (Robust/</a:t>
            </a:r>
            <a:r>
              <a:rPr lang="en-US" sz="1050" dirty="0" err="1"/>
              <a:t>MinMax</a:t>
            </a:r>
            <a:r>
              <a:rPr lang="en-US" sz="1050" dirty="0"/>
              <a:t>) y </a:t>
            </a:r>
            <a:r>
              <a:rPr lang="en-US" sz="1050" dirty="0" err="1"/>
              <a:t>medir</a:t>
            </a:r>
            <a:r>
              <a:rPr lang="en-US" sz="1050" dirty="0"/>
              <a:t> </a:t>
            </a:r>
            <a:r>
              <a:rPr lang="en-US" sz="1050" dirty="0" err="1"/>
              <a:t>sensibilidad</a:t>
            </a:r>
            <a:endParaRPr lang="en-US" sz="105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dirty="0" err="1"/>
              <a:t>Mejorar</a:t>
            </a:r>
            <a:r>
              <a:rPr lang="en-US" sz="1050" dirty="0"/>
              <a:t> features </a:t>
            </a:r>
            <a:r>
              <a:rPr lang="en-US" sz="1050" dirty="0" err="1"/>
              <a:t>si</a:t>
            </a:r>
            <a:r>
              <a:rPr lang="en-US" sz="1050" dirty="0"/>
              <a:t> se </a:t>
            </a:r>
            <a:r>
              <a:rPr lang="en-US" sz="1050" dirty="0" err="1"/>
              <a:t>amplía</a:t>
            </a:r>
            <a:r>
              <a:rPr lang="en-US" sz="1050" dirty="0"/>
              <a:t> </a:t>
            </a:r>
            <a:r>
              <a:rPr lang="en-US" sz="1050" dirty="0" err="1"/>
              <a:t>el</a:t>
            </a:r>
            <a:r>
              <a:rPr lang="en-US" sz="1050" dirty="0"/>
              <a:t> dataset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050" b="1" dirty="0" err="1"/>
              <a:t>Recomendaciones</a:t>
            </a:r>
            <a:r>
              <a:rPr lang="en-US" sz="1050" b="1" dirty="0"/>
              <a:t> de </a:t>
            </a:r>
            <a:r>
              <a:rPr lang="en-US" sz="1050" b="1" dirty="0" err="1"/>
              <a:t>uso</a:t>
            </a:r>
            <a:r>
              <a:rPr lang="en-US" sz="1050" b="1" dirty="0"/>
              <a:t>:</a:t>
            </a:r>
            <a:endParaRPr lang="en-US" sz="105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dirty="0" err="1"/>
              <a:t>Acciones</a:t>
            </a:r>
            <a:r>
              <a:rPr lang="en-US" sz="1050" dirty="0"/>
              <a:t> </a:t>
            </a:r>
            <a:r>
              <a:rPr lang="en-US" sz="1050" dirty="0" err="1"/>
              <a:t>por</a:t>
            </a:r>
            <a:r>
              <a:rPr lang="en-US" sz="1050" dirty="0"/>
              <a:t> </a:t>
            </a:r>
            <a:r>
              <a:rPr lang="en-US" sz="1050" dirty="0" err="1"/>
              <a:t>perfil</a:t>
            </a:r>
            <a:r>
              <a:rPr lang="en-US" sz="1050" dirty="0"/>
              <a:t> (</a:t>
            </a:r>
            <a:r>
              <a:rPr lang="en-US" sz="1050" dirty="0" err="1"/>
              <a:t>campañas</a:t>
            </a:r>
            <a:r>
              <a:rPr lang="en-US" sz="1050" dirty="0"/>
              <a:t>/</a:t>
            </a:r>
            <a:r>
              <a:rPr lang="en-US" sz="1050" dirty="0" err="1"/>
              <a:t>priorización</a:t>
            </a:r>
            <a:r>
              <a:rPr lang="en-US" sz="1050" dirty="0"/>
              <a:t>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“Ruido” DBSCAN → </a:t>
            </a:r>
            <a:r>
              <a:rPr lang="en-US" sz="1050" dirty="0" err="1"/>
              <a:t>casos</a:t>
            </a:r>
            <a:r>
              <a:rPr lang="en-US" sz="1050" dirty="0"/>
              <a:t> </a:t>
            </a:r>
            <a:r>
              <a:rPr lang="en-US" sz="1050" dirty="0" err="1"/>
              <a:t>especiales</a:t>
            </a:r>
            <a:r>
              <a:rPr lang="en-US" sz="1050" dirty="0"/>
              <a:t> / </a:t>
            </a:r>
            <a:r>
              <a:rPr lang="en-US" sz="1050" dirty="0" err="1"/>
              <a:t>revisión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2102</Words>
  <Application>Microsoft Office PowerPoint</Application>
  <PresentationFormat>Presentación en pantalla (4:3)</PresentationFormat>
  <Paragraphs>107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Segmentación de Usuarios con Aprendizaje No Supervisado</vt:lpstr>
      <vt:lpstr>Introducción del problema</vt:lpstr>
      <vt:lpstr>Exploración inicial: distribuciones y estructura</vt:lpstr>
      <vt:lpstr>Relaciones entre variables: correlación</vt:lpstr>
      <vt:lpstr>Metodología y técnicas aplicadas</vt:lpstr>
      <vt:lpstr>Metodología y técnicas aplicadas</vt:lpstr>
      <vt:lpstr>Metodología y técnicas aplicadas</vt:lpstr>
      <vt:lpstr>Segmentación K-Means (edad vs estado / afiliación)</vt:lpstr>
      <vt:lpstr>Segmentación DBSCAN (edad vs estado / afiliación) + Ruido</vt:lpstr>
      <vt:lpstr>Comparativo visual (muestra 10k) + lectura técnica</vt:lpstr>
      <vt:lpstr>Conclusiones y recomendaciones</vt:lpstr>
      <vt:lpstr>Conclusiones y recomendaciones</vt:lpstr>
      <vt:lpstr>Conclusiones y 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Adrian</dc:creator>
  <cp:keywords/>
  <dc:description>generated using python-pptx</dc:description>
  <cp:lastModifiedBy>Adrian Fabricio PI</cp:lastModifiedBy>
  <cp:revision>3</cp:revision>
  <dcterms:created xsi:type="dcterms:W3CDTF">2013-01-27T09:14:16Z</dcterms:created>
  <dcterms:modified xsi:type="dcterms:W3CDTF">2026-02-17T02:46:02Z</dcterms:modified>
  <cp:category/>
</cp:coreProperties>
</file>