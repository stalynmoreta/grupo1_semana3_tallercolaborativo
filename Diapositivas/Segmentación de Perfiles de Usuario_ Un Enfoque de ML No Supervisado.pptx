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embeddedFontLst>
    <p:embeddedFont>
      <p:font typeface="Calibri" panose="020F0502020204030204" pitchFamily="34" charset="0"/>
      <p:regular r:id="rId14"/>
      <p:bold r:id="rId15"/>
      <p:italic r:id="rId16"/>
      <p:boldItalic r:id="rId17"/>
    </p:embeddedFont>
    <p:embeddedFont>
      <p:font typeface="DM Sans" panose="020B0604020202020204" charset="0"/>
      <p:regular r:id="rId18"/>
      <p:bold r:id="rId19"/>
      <p:italic r:id="rId20"/>
      <p:boldItalic r:id="rId21"/>
    </p:embeddedFont>
    <p:embeddedFont>
      <p:font typeface="Merriweather" panose="020B0604020202020204" pitchFamily="2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2B04EDA-47A7-4FAA-9E3D-59AEE143B956}">
  <a:tblStyle styleId="{A2B04EDA-47A7-4FAA-9E3D-59AEE143B956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754" y="5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86fe954b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86fe954b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Mejorar esta diapositiva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47625" y="0"/>
            <a:ext cx="1228725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1881187"/>
            <a:ext cx="533400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4"/>
          <p:cNvSpPr txBox="1"/>
          <p:nvPr/>
        </p:nvSpPr>
        <p:spPr>
          <a:xfrm>
            <a:off x="571500" y="381000"/>
            <a:ext cx="11601450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Contexto y Estructura de Datos</a:t>
            </a:r>
            <a:endParaRPr/>
          </a:p>
        </p:txBody>
      </p:sp>
      <p:sp>
        <p:nvSpPr>
          <p:cNvPr id="92" name="Google Shape;92;p14"/>
          <p:cNvSpPr txBox="1"/>
          <p:nvPr/>
        </p:nvSpPr>
        <p:spPr>
          <a:xfrm>
            <a:off x="571500" y="2609850"/>
            <a:ext cx="560070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Información del Dataset</a:t>
            </a:r>
            <a:endParaRPr/>
          </a:p>
        </p:txBody>
      </p:sp>
      <p:pic>
        <p:nvPicPr>
          <p:cNvPr id="93" name="Google Shape;93;p14"/>
          <p:cNvPicPr preferRelativeResize="0"/>
          <p:nvPr/>
        </p:nvPicPr>
        <p:blipFill rotWithShape="1">
          <a:blip r:embed="rId5"/>
          <a:srcRect/>
          <a:stretch/>
        </p:blipFill>
        <p:spPr>
          <a:xfrm>
            <a:off x="6400800" y="1900237"/>
            <a:ext cx="5105400" cy="37719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885825" y="2981325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952500" y="2981325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Registros: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67,650 entradas únicas.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885825" y="3286125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952500" y="3286125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Dimensiones: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Género, Edad, Especialidad, Afiliación y Estado Final.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885825" y="3895725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952500" y="3895725"/>
            <a:ext cx="4953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Propósito: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Identificar patrones de comportamiento y segmentar grupos de pacientes para optimizar servicios de salud.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781919"/>
            <a:ext cx="3555950" cy="2784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7950" y="1781919"/>
            <a:ext cx="3555950" cy="2784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4400" y="1781919"/>
            <a:ext cx="3556099" cy="2784871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5"/>
          <p:cNvSpPr txBox="1"/>
          <p:nvPr/>
        </p:nvSpPr>
        <p:spPr>
          <a:xfrm>
            <a:off x="571500" y="381000"/>
            <a:ext cx="11601450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Limpieza y Preparación de Datos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571500" y="5043041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Estandarización aplicada:</a:t>
            </a:r>
            <a:endParaRPr/>
          </a:p>
        </p:txBody>
      </p:sp>
      <p:pic>
        <p:nvPicPr>
          <p:cNvPr id="110" name="Google Shape;110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5538341"/>
            <a:ext cx="11049000" cy="252114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5"/>
          <p:cNvSpPr txBox="1"/>
          <p:nvPr/>
        </p:nvSpPr>
        <p:spPr>
          <a:xfrm>
            <a:off x="782638" y="2705844"/>
            <a:ext cx="3133672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1CAA0"/>
                </a:solidFill>
                <a:latin typeface="Merriweather"/>
                <a:ea typeface="Merriweather"/>
                <a:cs typeface="Merriweather"/>
                <a:sym typeface="Merriweather"/>
              </a:rPr>
              <a:t>Limpieza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857250" y="3153519"/>
            <a:ext cx="2984450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Verificación de valores nulos y duplicados. El dataset se encontraba íntegro para el análisis.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4529089" y="2705844"/>
            <a:ext cx="3133672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1CAA0"/>
                </a:solidFill>
                <a:latin typeface="Merriweather"/>
                <a:ea typeface="Merriweather"/>
                <a:cs typeface="Merriweather"/>
                <a:sym typeface="Merriweather"/>
              </a:rPr>
              <a:t>Codificación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4603700" y="3153519"/>
            <a:ext cx="2984450" cy="975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Conversión de variables categóricas (Género y Afiliación) a formatos numéricos para el procesamiento del modelo.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8275535" y="2705844"/>
            <a:ext cx="3133829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1CAA0"/>
                </a:solidFill>
                <a:latin typeface="Merriweather"/>
                <a:ea typeface="Merriweather"/>
                <a:cs typeface="Merriweather"/>
                <a:sym typeface="Merriweather"/>
              </a:rPr>
              <a:t>Escalado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8350150" y="3153519"/>
            <a:ext cx="2984599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Uso de </a:t>
            </a:r>
            <a:r>
              <a:rPr lang="en-US" sz="1200" b="0" i="1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StandardScaler</a:t>
            </a: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 para normalizar la escala de las variables, evitando sesgos por magnitud.</a:t>
            </a:r>
            <a:endParaRPr/>
          </a:p>
        </p:txBody>
      </p:sp>
      <p:pic>
        <p:nvPicPr>
          <p:cNvPr id="117" name="Google Shape;117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135088" y="2115294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5905351" y="2115294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5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9651950" y="2115294"/>
            <a:ext cx="381000" cy="38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881187"/>
            <a:ext cx="533400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6"/>
          <p:cNvSpPr txBox="1"/>
          <p:nvPr/>
        </p:nvSpPr>
        <p:spPr>
          <a:xfrm>
            <a:off x="571500" y="381000"/>
            <a:ext cx="11601450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Exploración y Correlación</a:t>
            </a:r>
            <a:endParaRPr/>
          </a:p>
        </p:txBody>
      </p:sp>
      <p:pic>
        <p:nvPicPr>
          <p:cNvPr id="127" name="Google Shape;127;p16"/>
          <p:cNvPicPr preferRelativeResize="0"/>
          <p:nvPr/>
        </p:nvPicPr>
        <p:blipFill>
          <a:blip r:embed="rId5"/>
          <a:srcRect/>
          <a:stretch/>
        </p:blipFill>
        <p:spPr>
          <a:xfrm>
            <a:off x="1352550" y="1900237"/>
            <a:ext cx="3771900" cy="377190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6"/>
          <p:cNvSpPr txBox="1"/>
          <p:nvPr/>
        </p:nvSpPr>
        <p:spPr>
          <a:xfrm>
            <a:off x="6286500" y="2647950"/>
            <a:ext cx="560070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Hallazgos Clave</a:t>
            </a:r>
            <a:endParaRPr/>
          </a:p>
        </p:txBody>
      </p:sp>
      <p:sp>
        <p:nvSpPr>
          <p:cNvPr id="129" name="Google Shape;129;p16"/>
          <p:cNvSpPr txBox="1"/>
          <p:nvPr/>
        </p:nvSpPr>
        <p:spPr>
          <a:xfrm>
            <a:off x="6286500" y="3057525"/>
            <a:ext cx="533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El análisis de correlación de Pearson reveló que las variables operan de manera independiente, lo que sugiere que cada una aporta valor único a la formación de clusters.</a:t>
            </a:r>
            <a:endParaRPr/>
          </a:p>
        </p:txBody>
      </p:sp>
      <p:sp>
        <p:nvSpPr>
          <p:cNvPr id="130" name="Google Shape;130;p16"/>
          <p:cNvSpPr txBox="1"/>
          <p:nvPr/>
        </p:nvSpPr>
        <p:spPr>
          <a:xfrm>
            <a:off x="6600825" y="4162425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31" name="Google Shape;131;p16"/>
          <p:cNvSpPr txBox="1"/>
          <p:nvPr/>
        </p:nvSpPr>
        <p:spPr>
          <a:xfrm>
            <a:off x="6667500" y="4162425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Distribución de edad centrada en los 38 años.</a:t>
            </a:r>
            <a:endParaRPr/>
          </a:p>
        </p:txBody>
      </p:sp>
      <p:sp>
        <p:nvSpPr>
          <p:cNvPr id="132" name="Google Shape;132;p16"/>
          <p:cNvSpPr txBox="1"/>
          <p:nvPr/>
        </p:nvSpPr>
        <p:spPr>
          <a:xfrm>
            <a:off x="6600825" y="4467225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33" name="Google Shape;133;p16"/>
          <p:cNvSpPr txBox="1"/>
          <p:nvPr/>
        </p:nvSpPr>
        <p:spPr>
          <a:xfrm>
            <a:off x="6667500" y="4467225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Equilibrio entre géneros y tipos de afiliación.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1881187"/>
            <a:ext cx="533400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7"/>
          <p:cNvSpPr txBox="1"/>
          <p:nvPr/>
        </p:nvSpPr>
        <p:spPr>
          <a:xfrm>
            <a:off x="571500" y="381000"/>
            <a:ext cx="11601450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Optimización: El Método del Codo</a:t>
            </a:r>
            <a:endParaRPr/>
          </a:p>
        </p:txBody>
      </p:sp>
      <p:sp>
        <p:nvSpPr>
          <p:cNvPr id="141" name="Google Shape;141;p17"/>
          <p:cNvSpPr txBox="1"/>
          <p:nvPr/>
        </p:nvSpPr>
        <p:spPr>
          <a:xfrm>
            <a:off x="571500" y="2533650"/>
            <a:ext cx="560070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Búsqueda del K Óptimo</a:t>
            </a:r>
            <a:endParaRPr/>
          </a:p>
        </p:txBody>
      </p:sp>
      <p:sp>
        <p:nvSpPr>
          <p:cNvPr id="142" name="Google Shape;142;p17"/>
          <p:cNvSpPr txBox="1"/>
          <p:nvPr/>
        </p:nvSpPr>
        <p:spPr>
          <a:xfrm>
            <a:off x="571500" y="2943225"/>
            <a:ext cx="5334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Se evaluó la inercia para diferentes valores de K (1-10) y el Score de Silueta (2-6).</a:t>
            </a:r>
            <a:endParaRPr/>
          </a:p>
        </p:txBody>
      </p:sp>
      <p:sp>
        <p:nvSpPr>
          <p:cNvPr id="143" name="Google Shape;143;p17"/>
          <p:cNvSpPr txBox="1"/>
          <p:nvPr/>
        </p:nvSpPr>
        <p:spPr>
          <a:xfrm>
            <a:off x="571500" y="3743325"/>
            <a:ext cx="5334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Resultado: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K=5 o K=6 proporcionan la mejor cohesión y separación.</a:t>
            </a:r>
            <a:endParaRPr/>
          </a:p>
        </p:txBody>
      </p:sp>
      <p:sp>
        <p:nvSpPr>
          <p:cNvPr id="144" name="Google Shape;144;p17"/>
          <p:cNvSpPr txBox="1"/>
          <p:nvPr/>
        </p:nvSpPr>
        <p:spPr>
          <a:xfrm>
            <a:off x="571500" y="4543425"/>
            <a:ext cx="5334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Silhouette Score para K=6: 0.3850</a:t>
            </a:r>
            <a:endParaRPr/>
          </a:p>
        </p:txBody>
      </p:sp>
      <p:pic>
        <p:nvPicPr>
          <p:cNvPr id="145" name="Google Shape;145;p17"/>
          <p:cNvPicPr preferRelativeResize="0"/>
          <p:nvPr/>
        </p:nvPicPr>
        <p:blipFill>
          <a:blip r:embed="rId5"/>
          <a:srcRect/>
          <a:stretch/>
        </p:blipFill>
        <p:spPr>
          <a:xfrm>
            <a:off x="6460578" y="1900237"/>
            <a:ext cx="4985843" cy="3771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1095375"/>
            <a:ext cx="12192000" cy="5762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18"/>
          <p:cNvSpPr txBox="1"/>
          <p:nvPr/>
        </p:nvSpPr>
        <p:spPr>
          <a:xfrm>
            <a:off x="571500" y="381000"/>
            <a:ext cx="11601450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Segmentación por K-Means (K=5)</a:t>
            </a:r>
            <a:endParaRPr/>
          </a:p>
        </p:txBody>
      </p:sp>
      <p:sp>
        <p:nvSpPr>
          <p:cNvPr id="153" name="Google Shape;153;p18"/>
          <p:cNvSpPr txBox="1"/>
          <p:nvPr/>
        </p:nvSpPr>
        <p:spPr>
          <a:xfrm>
            <a:off x="571500" y="4765327"/>
            <a:ext cx="11049000" cy="213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*Los porcentajes en la barra representan la intensidad de la edad promedio relativa en el grupo.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9"/>
          <p:cNvSpPr txBox="1"/>
          <p:nvPr/>
        </p:nvSpPr>
        <p:spPr>
          <a:xfrm>
            <a:off x="571500" y="381000"/>
            <a:ext cx="11601450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Perfilamiento de los 5 Segmentos</a:t>
            </a:r>
            <a:endParaRPr/>
          </a:p>
        </p:txBody>
      </p:sp>
      <p:sp>
        <p:nvSpPr>
          <p:cNvPr id="160" name="Google Shape;160;p19"/>
          <p:cNvSpPr/>
          <p:nvPr/>
        </p:nvSpPr>
        <p:spPr>
          <a:xfrm>
            <a:off x="571500" y="2133600"/>
            <a:ext cx="11049000" cy="3305175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61" name="Google Shape;161;p19"/>
          <p:cNvGraphicFramePr/>
          <p:nvPr/>
        </p:nvGraphicFramePr>
        <p:xfrm>
          <a:off x="571500" y="2133600"/>
          <a:ext cx="11049000" cy="3305125"/>
        </p:xfrm>
        <a:graphic>
          <a:graphicData uri="http://schemas.openxmlformats.org/drawingml/2006/table">
            <a:tbl>
              <a:tblPr firstRow="1" bandRow="1">
                <a:noFill/>
                <a:tableStyleId>{A2B04EDA-47A7-4FAA-9E3D-59AEE143B956}</a:tableStyleId>
              </a:tblPr>
              <a:tblGrid>
                <a:gridCol w="1349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1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8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6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2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Cluster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Género Predominante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Edad Media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Afiliación Común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Estado Final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0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Femenino (0)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37.4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Gold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3.0 (Alta)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1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Masculino (1)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36.6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Gold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2.0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Masculino (1)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38.3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Silver/Conv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2.0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3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Femenino (0)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41.4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Silver/Conv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1.8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0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4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Femenino (0)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38.4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Gold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1.7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62" name="Google Shape;162;p19"/>
          <p:cNvSpPr/>
          <p:nvPr/>
        </p:nvSpPr>
        <p:spPr>
          <a:xfrm>
            <a:off x="571500" y="3252787"/>
            <a:ext cx="1349573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9"/>
          <p:cNvSpPr/>
          <p:nvPr/>
        </p:nvSpPr>
        <p:spPr>
          <a:xfrm>
            <a:off x="1921073" y="3252787"/>
            <a:ext cx="3241774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9"/>
          <p:cNvSpPr/>
          <p:nvPr/>
        </p:nvSpPr>
        <p:spPr>
          <a:xfrm>
            <a:off x="5162847" y="3252787"/>
            <a:ext cx="1918543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9"/>
          <p:cNvSpPr/>
          <p:nvPr/>
        </p:nvSpPr>
        <p:spPr>
          <a:xfrm>
            <a:off x="7081391" y="3252787"/>
            <a:ext cx="2566987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9"/>
          <p:cNvSpPr/>
          <p:nvPr/>
        </p:nvSpPr>
        <p:spPr>
          <a:xfrm>
            <a:off x="9648378" y="3252787"/>
            <a:ext cx="1972121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9"/>
          <p:cNvSpPr/>
          <p:nvPr/>
        </p:nvSpPr>
        <p:spPr>
          <a:xfrm>
            <a:off x="571500" y="3795712"/>
            <a:ext cx="1349573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9"/>
          <p:cNvSpPr/>
          <p:nvPr/>
        </p:nvSpPr>
        <p:spPr>
          <a:xfrm>
            <a:off x="1921073" y="3795712"/>
            <a:ext cx="3241774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9"/>
          <p:cNvSpPr/>
          <p:nvPr/>
        </p:nvSpPr>
        <p:spPr>
          <a:xfrm>
            <a:off x="5162847" y="3795712"/>
            <a:ext cx="1918543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9"/>
          <p:cNvSpPr/>
          <p:nvPr/>
        </p:nvSpPr>
        <p:spPr>
          <a:xfrm>
            <a:off x="7081391" y="3795712"/>
            <a:ext cx="2566987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9"/>
          <p:cNvSpPr/>
          <p:nvPr/>
        </p:nvSpPr>
        <p:spPr>
          <a:xfrm>
            <a:off x="9648378" y="3795712"/>
            <a:ext cx="1972121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9"/>
          <p:cNvSpPr/>
          <p:nvPr/>
        </p:nvSpPr>
        <p:spPr>
          <a:xfrm>
            <a:off x="571500" y="4338637"/>
            <a:ext cx="1349573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9"/>
          <p:cNvSpPr/>
          <p:nvPr/>
        </p:nvSpPr>
        <p:spPr>
          <a:xfrm>
            <a:off x="1921073" y="4338637"/>
            <a:ext cx="3241774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9"/>
          <p:cNvSpPr/>
          <p:nvPr/>
        </p:nvSpPr>
        <p:spPr>
          <a:xfrm>
            <a:off x="5162847" y="4338637"/>
            <a:ext cx="1918543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9"/>
          <p:cNvSpPr/>
          <p:nvPr/>
        </p:nvSpPr>
        <p:spPr>
          <a:xfrm>
            <a:off x="7081391" y="4338637"/>
            <a:ext cx="2566987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9"/>
          <p:cNvSpPr/>
          <p:nvPr/>
        </p:nvSpPr>
        <p:spPr>
          <a:xfrm>
            <a:off x="9648378" y="4338637"/>
            <a:ext cx="1972121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9"/>
          <p:cNvSpPr/>
          <p:nvPr/>
        </p:nvSpPr>
        <p:spPr>
          <a:xfrm>
            <a:off x="571500" y="4881562"/>
            <a:ext cx="1349573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9"/>
          <p:cNvSpPr/>
          <p:nvPr/>
        </p:nvSpPr>
        <p:spPr>
          <a:xfrm>
            <a:off x="1921073" y="4881562"/>
            <a:ext cx="3241774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9"/>
          <p:cNvSpPr/>
          <p:nvPr/>
        </p:nvSpPr>
        <p:spPr>
          <a:xfrm>
            <a:off x="5162847" y="4881562"/>
            <a:ext cx="1918543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9"/>
          <p:cNvSpPr/>
          <p:nvPr/>
        </p:nvSpPr>
        <p:spPr>
          <a:xfrm>
            <a:off x="7081391" y="4881562"/>
            <a:ext cx="2566987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9"/>
          <p:cNvSpPr/>
          <p:nvPr/>
        </p:nvSpPr>
        <p:spPr>
          <a:xfrm>
            <a:off x="9648378" y="4881562"/>
            <a:ext cx="1972121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9"/>
          <p:cNvSpPr/>
          <p:nvPr/>
        </p:nvSpPr>
        <p:spPr>
          <a:xfrm>
            <a:off x="571500" y="5424487"/>
            <a:ext cx="1349573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9"/>
          <p:cNvSpPr/>
          <p:nvPr/>
        </p:nvSpPr>
        <p:spPr>
          <a:xfrm>
            <a:off x="1921073" y="5424487"/>
            <a:ext cx="3241774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9"/>
          <p:cNvSpPr/>
          <p:nvPr/>
        </p:nvSpPr>
        <p:spPr>
          <a:xfrm>
            <a:off x="5162847" y="5424487"/>
            <a:ext cx="1918543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9"/>
          <p:cNvSpPr/>
          <p:nvPr/>
        </p:nvSpPr>
        <p:spPr>
          <a:xfrm>
            <a:off x="7081391" y="5424487"/>
            <a:ext cx="2566987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9"/>
          <p:cNvSpPr/>
          <p:nvPr/>
        </p:nvSpPr>
        <p:spPr>
          <a:xfrm>
            <a:off x="9648378" y="5424487"/>
            <a:ext cx="1972121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Google Shape;191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1881187"/>
            <a:ext cx="533400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0"/>
          <p:cNvSpPr txBox="1"/>
          <p:nvPr/>
        </p:nvSpPr>
        <p:spPr>
          <a:xfrm>
            <a:off x="571500" y="381000"/>
            <a:ext cx="11601450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DBSCAN: Detección de Densidad</a:t>
            </a:r>
            <a:endParaRPr/>
          </a:p>
        </p:txBody>
      </p:sp>
      <p:sp>
        <p:nvSpPr>
          <p:cNvPr id="194" name="Google Shape;194;p20"/>
          <p:cNvSpPr txBox="1"/>
          <p:nvPr/>
        </p:nvSpPr>
        <p:spPr>
          <a:xfrm>
            <a:off x="571500" y="2343150"/>
            <a:ext cx="560070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Análisis de Densidad</a:t>
            </a:r>
            <a:endParaRPr/>
          </a:p>
        </p:txBody>
      </p:sp>
      <p:sp>
        <p:nvSpPr>
          <p:cNvPr id="195" name="Google Shape;195;p20"/>
          <p:cNvSpPr txBox="1"/>
          <p:nvPr/>
        </p:nvSpPr>
        <p:spPr>
          <a:xfrm>
            <a:off x="571500" y="2752725"/>
            <a:ext cx="5334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 diferencia de K-Means, DBSCAN identifica grupos por proximidad y detecta "ruido" o valores atípicos.</a:t>
            </a:r>
            <a:endParaRPr/>
          </a:p>
        </p:txBody>
      </p:sp>
      <p:pic>
        <p:nvPicPr>
          <p:cNvPr id="196" name="Google Shape;196;p20"/>
          <p:cNvPicPr preferRelativeResize="0"/>
          <p:nvPr/>
        </p:nvPicPr>
        <p:blipFill>
          <a:blip r:embed="rId5"/>
          <a:srcRect/>
          <a:stretch/>
        </p:blipFill>
        <p:spPr>
          <a:xfrm>
            <a:off x="6535505" y="1900237"/>
            <a:ext cx="4835990" cy="3771900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20"/>
          <p:cNvSpPr txBox="1"/>
          <p:nvPr/>
        </p:nvSpPr>
        <p:spPr>
          <a:xfrm>
            <a:off x="885825" y="3552825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98" name="Google Shape;198;p20"/>
          <p:cNvSpPr txBox="1"/>
          <p:nvPr/>
        </p:nvSpPr>
        <p:spPr>
          <a:xfrm>
            <a:off x="952500" y="3552825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Epsilon (1.0):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Radio de búsqueda.</a:t>
            </a:r>
            <a:endParaRPr/>
          </a:p>
        </p:txBody>
      </p:sp>
      <p:sp>
        <p:nvSpPr>
          <p:cNvPr id="199" name="Google Shape;199;p20"/>
          <p:cNvSpPr txBox="1"/>
          <p:nvPr/>
        </p:nvSpPr>
        <p:spPr>
          <a:xfrm>
            <a:off x="885825" y="3857625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200" name="Google Shape;200;p20"/>
          <p:cNvSpPr txBox="1"/>
          <p:nvPr/>
        </p:nvSpPr>
        <p:spPr>
          <a:xfrm>
            <a:off x="952500" y="3857625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Min Samples (5):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Mínimo para formar cluster.</a:t>
            </a:r>
            <a:endParaRPr/>
          </a:p>
        </p:txBody>
      </p:sp>
      <p:sp>
        <p:nvSpPr>
          <p:cNvPr id="201" name="Google Shape;201;p20"/>
          <p:cNvSpPr txBox="1"/>
          <p:nvPr/>
        </p:nvSpPr>
        <p:spPr>
          <a:xfrm>
            <a:off x="885825" y="4162425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202" name="Google Shape;202;p20"/>
          <p:cNvSpPr txBox="1"/>
          <p:nvPr/>
        </p:nvSpPr>
        <p:spPr>
          <a:xfrm>
            <a:off x="952500" y="4162425"/>
            <a:ext cx="4953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Resultado: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Identificó múltiples micro-segmentos y puntos de ruido (-1) que K-Means tiende a forzar en grupos mayores.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881187"/>
            <a:ext cx="533400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1"/>
          <p:cNvSpPr txBox="1"/>
          <p:nvPr/>
        </p:nvSpPr>
        <p:spPr>
          <a:xfrm>
            <a:off x="571500" y="381000"/>
            <a:ext cx="11601450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PCA: Reducción Dimensional</a:t>
            </a:r>
            <a:endParaRPr/>
          </a:p>
        </p:txBody>
      </p:sp>
      <p:pic>
        <p:nvPicPr>
          <p:cNvPr id="210" name="Google Shape;210;p21"/>
          <p:cNvPicPr preferRelativeResize="0"/>
          <p:nvPr/>
        </p:nvPicPr>
        <p:blipFill>
          <a:blip r:embed="rId5"/>
          <a:srcRect/>
          <a:stretch/>
        </p:blipFill>
        <p:spPr>
          <a:xfrm>
            <a:off x="862637" y="1900237"/>
            <a:ext cx="4751726" cy="37719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1"/>
          <p:cNvSpPr txBox="1"/>
          <p:nvPr/>
        </p:nvSpPr>
        <p:spPr>
          <a:xfrm>
            <a:off x="6286500" y="2628900"/>
            <a:ext cx="560070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Simplificación del Espacio</a:t>
            </a:r>
            <a:endParaRPr/>
          </a:p>
        </p:txBody>
      </p:sp>
      <p:sp>
        <p:nvSpPr>
          <p:cNvPr id="212" name="Google Shape;212;p21"/>
          <p:cNvSpPr txBox="1"/>
          <p:nvPr/>
        </p:nvSpPr>
        <p:spPr>
          <a:xfrm>
            <a:off x="6286500" y="3038475"/>
            <a:ext cx="5334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Mediante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el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Análisis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de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Componentes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Principales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,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reducimos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las 4 variables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originales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a 2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dimensiones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espaciales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 dirty="0"/>
          </a:p>
        </p:txBody>
      </p:sp>
      <p:sp>
        <p:nvSpPr>
          <p:cNvPr id="213" name="Google Shape;213;p21"/>
          <p:cNvSpPr txBox="1"/>
          <p:nvPr/>
        </p:nvSpPr>
        <p:spPr>
          <a:xfrm>
            <a:off x="6286500" y="4114800"/>
            <a:ext cx="533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Ventaja</a:t>
            </a:r>
            <a:r>
              <a:rPr lang="en-US" sz="1500" b="1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: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Permite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visualizar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la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separación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lineal de los clusters de K-Means,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confirmando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la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validez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de los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grupos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identificados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8" name="Google Shape;218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1881187"/>
            <a:ext cx="533400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22"/>
          <p:cNvSpPr txBox="1"/>
          <p:nvPr/>
        </p:nvSpPr>
        <p:spPr>
          <a:xfrm>
            <a:off x="571500" y="381000"/>
            <a:ext cx="11601450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t-SNE: Relaciones No Lineales</a:t>
            </a:r>
            <a:endParaRPr/>
          </a:p>
        </p:txBody>
      </p:sp>
      <p:sp>
        <p:nvSpPr>
          <p:cNvPr id="221" name="Google Shape;221;p22"/>
          <p:cNvSpPr txBox="1"/>
          <p:nvPr/>
        </p:nvSpPr>
        <p:spPr>
          <a:xfrm>
            <a:off x="571500" y="2495550"/>
            <a:ext cx="560070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Afinidad y Estructura</a:t>
            </a:r>
            <a:endParaRPr/>
          </a:p>
        </p:txBody>
      </p:sp>
      <p:sp>
        <p:nvSpPr>
          <p:cNvPr id="222" name="Google Shape;222;p22"/>
          <p:cNvSpPr txBox="1"/>
          <p:nvPr/>
        </p:nvSpPr>
        <p:spPr>
          <a:xfrm>
            <a:off x="571500" y="2905125"/>
            <a:ext cx="5334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El algoritmo t-SNE es ideal para preservar las relaciones de vecindad locales en espacios de baja dimensión.</a:t>
            </a:r>
            <a:endParaRPr/>
          </a:p>
        </p:txBody>
      </p:sp>
      <p:pic>
        <p:nvPicPr>
          <p:cNvPr id="223" name="Google Shape;223;p22"/>
          <p:cNvPicPr preferRelativeResize="0"/>
          <p:nvPr/>
        </p:nvPicPr>
        <p:blipFill>
          <a:blip r:embed="rId5"/>
          <a:srcRect/>
          <a:stretch/>
        </p:blipFill>
        <p:spPr>
          <a:xfrm>
            <a:off x="6438900" y="1900237"/>
            <a:ext cx="5029200" cy="37719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2"/>
          <p:cNvSpPr txBox="1"/>
          <p:nvPr/>
        </p:nvSpPr>
        <p:spPr>
          <a:xfrm>
            <a:off x="885825" y="3705225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225" name="Google Shape;225;p22"/>
          <p:cNvSpPr txBox="1"/>
          <p:nvPr/>
        </p:nvSpPr>
        <p:spPr>
          <a:xfrm>
            <a:off x="952500" y="3705225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Revela una estructura mucho más compleja y entrelazada.</a:t>
            </a:r>
            <a:endParaRPr/>
          </a:p>
        </p:txBody>
      </p:sp>
      <p:sp>
        <p:nvSpPr>
          <p:cNvPr id="226" name="Google Shape;226;p22"/>
          <p:cNvSpPr txBox="1"/>
          <p:nvPr/>
        </p:nvSpPr>
        <p:spPr>
          <a:xfrm>
            <a:off x="885825" y="4314825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227" name="Google Shape;227;p22"/>
          <p:cNvSpPr txBox="1"/>
          <p:nvPr/>
        </p:nvSpPr>
        <p:spPr>
          <a:xfrm>
            <a:off x="952500" y="4314825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Muestra cómo el género actúa como un eje divisor fuerte en la topología de los datos.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2" name="Google Shape;232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" name="Google Shape;233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834729"/>
            <a:ext cx="3555950" cy="190291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7950" y="2834729"/>
            <a:ext cx="3555950" cy="190291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4400" y="2834729"/>
            <a:ext cx="3556099" cy="1902916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23"/>
          <p:cNvSpPr txBox="1"/>
          <p:nvPr/>
        </p:nvSpPr>
        <p:spPr>
          <a:xfrm>
            <a:off x="571500" y="381000"/>
            <a:ext cx="11601450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Conclusiones del Modelo</a:t>
            </a:r>
            <a:endParaRPr/>
          </a:p>
        </p:txBody>
      </p:sp>
      <p:sp>
        <p:nvSpPr>
          <p:cNvPr id="237" name="Google Shape;237;p23"/>
          <p:cNvSpPr txBox="1"/>
          <p:nvPr/>
        </p:nvSpPr>
        <p:spPr>
          <a:xfrm>
            <a:off x="782638" y="3120479"/>
            <a:ext cx="3133672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1CAA0"/>
                </a:solidFill>
                <a:latin typeface="Merriweather"/>
                <a:ea typeface="Merriweather"/>
                <a:cs typeface="Merriweather"/>
                <a:sym typeface="Merriweather"/>
              </a:rPr>
              <a:t>Segmentación Sólida</a:t>
            </a:r>
            <a:endParaRPr/>
          </a:p>
        </p:txBody>
      </p:sp>
      <p:sp>
        <p:nvSpPr>
          <p:cNvPr id="238" name="Google Shape;238;p23"/>
          <p:cNvSpPr txBox="1"/>
          <p:nvPr/>
        </p:nvSpPr>
        <p:spPr>
          <a:xfrm>
            <a:off x="857250" y="3568154"/>
            <a:ext cx="2984450" cy="48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K-Means con 5-6 grupos ofrece una visión accionable de la población de pacientes.</a:t>
            </a:r>
            <a:endParaRPr/>
          </a:p>
        </p:txBody>
      </p:sp>
      <p:sp>
        <p:nvSpPr>
          <p:cNvPr id="239" name="Google Shape;239;p23"/>
          <p:cNvSpPr txBox="1"/>
          <p:nvPr/>
        </p:nvSpPr>
        <p:spPr>
          <a:xfrm>
            <a:off x="4529089" y="3120479"/>
            <a:ext cx="3133672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1CAA0"/>
                </a:solidFill>
                <a:latin typeface="Merriweather"/>
                <a:ea typeface="Merriweather"/>
                <a:cs typeface="Merriweather"/>
                <a:sym typeface="Merriweather"/>
              </a:rPr>
              <a:t>Insights de Género</a:t>
            </a:r>
            <a:endParaRPr/>
          </a:p>
        </p:txBody>
      </p:sp>
      <p:sp>
        <p:nvSpPr>
          <p:cNvPr id="240" name="Google Shape;240;p23"/>
          <p:cNvSpPr txBox="1"/>
          <p:nvPr/>
        </p:nvSpPr>
        <p:spPr>
          <a:xfrm>
            <a:off x="4603700" y="3568154"/>
            <a:ext cx="2984450" cy="48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El género es la variable de mayor peso en la separación de grupos iniciales.</a:t>
            </a:r>
            <a:endParaRPr/>
          </a:p>
        </p:txBody>
      </p:sp>
      <p:sp>
        <p:nvSpPr>
          <p:cNvPr id="241" name="Google Shape;241;p23"/>
          <p:cNvSpPr txBox="1"/>
          <p:nvPr/>
        </p:nvSpPr>
        <p:spPr>
          <a:xfrm>
            <a:off x="8275535" y="3120479"/>
            <a:ext cx="3133829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1CAA0"/>
                </a:solidFill>
                <a:latin typeface="Merriweather"/>
                <a:ea typeface="Merriweather"/>
                <a:cs typeface="Merriweather"/>
                <a:sym typeface="Merriweather"/>
              </a:rPr>
              <a:t>Estabilidad</a:t>
            </a:r>
            <a:endParaRPr/>
          </a:p>
        </p:txBody>
      </p:sp>
      <p:sp>
        <p:nvSpPr>
          <p:cNvPr id="242" name="Google Shape;242;p23"/>
          <p:cNvSpPr txBox="1"/>
          <p:nvPr/>
        </p:nvSpPr>
        <p:spPr>
          <a:xfrm>
            <a:off x="8350150" y="3568154"/>
            <a:ext cx="2984599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PCA y t-SNE validan que los clusters no son aleatorios, sino que obedecen a estructuras latentes.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527</Words>
  <Application>Microsoft Office PowerPoint</Application>
  <PresentationFormat>Panorámica</PresentationFormat>
  <Paragraphs>88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6" baseType="lpstr">
      <vt:lpstr>Arial</vt:lpstr>
      <vt:lpstr>DM Sans</vt:lpstr>
      <vt:lpstr>Calibri</vt:lpstr>
      <vt:lpstr>Merriweather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cp:lastModifiedBy>Andres Moreta</cp:lastModifiedBy>
  <cp:revision>1</cp:revision>
  <dcterms:modified xsi:type="dcterms:W3CDTF">2026-02-16T16:58:51Z</dcterms:modified>
</cp:coreProperties>
</file>