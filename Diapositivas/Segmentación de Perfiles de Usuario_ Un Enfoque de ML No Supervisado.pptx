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anose="020F0502020204030204" pitchFamily="2" charset="0"/>
      <p:regular r:id="rId14"/>
      <p:bold r:id="rId15"/>
      <p:italic r:id="rId16"/>
      <p:boldItalic r:id="rId17"/>
    </p:embeddedFont>
    <p:embeddedFont>
      <p:font typeface="Merriweather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B04EDA-47A7-4FAA-9E3D-59AEE143B956}">
  <a:tblStyle styleId="{A2B04EDA-47A7-4FAA-9E3D-59AEE143B9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86fe954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86fe954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Mejorar esta diaposi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811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Contexto y Estructura de Datos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26098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Información del Dataset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400800" y="1900237"/>
            <a:ext cx="51054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85825" y="29813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29813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Registros: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67,650 entradas únicas.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85825" y="3286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2861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Dimensiones: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Género, Edad, Especialidad, Afiliación y Estado Final.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85825" y="3895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8957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Propósito: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Identificar patrones de comportamiento y segmentar grupos de pacientes para optimizar servicios de salud.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1919"/>
            <a:ext cx="3555950" cy="278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781919"/>
            <a:ext cx="3555950" cy="278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781919"/>
            <a:ext cx="3556099" cy="278487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Limpieza y Preparación de Datos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504304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Estandarización aplicada: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538341"/>
            <a:ext cx="11049000" cy="252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82638" y="2705844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Limpieza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3153519"/>
            <a:ext cx="29844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Verificación de valores nulos y duplicados. El dataset se encontraba íntegro para el análisis.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529089" y="2705844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Codificación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03700" y="3153519"/>
            <a:ext cx="29844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Conversión de variables categóricas (Género y Afiliación) a formatos numéricos para el procesamiento del modelo.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275535" y="2705844"/>
            <a:ext cx="313382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Escalado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50150" y="3153519"/>
            <a:ext cx="29845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Uso de </a:t>
            </a:r>
            <a:r>
              <a:rPr lang="en-US" sz="1200" b="0" i="1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StandardScaler</a:t>
            </a: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normalizar la escala de las variables, evitando sesgos por magnitud.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35088" y="211529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5351" y="21152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51950" y="211529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Exploración y Correlación</a:t>
            </a:r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5"/>
          <a:srcRect/>
          <a:stretch/>
        </p:blipFill>
        <p:spPr>
          <a:xfrm>
            <a:off x="1352550" y="1900237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286500" y="26479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Hallazgos Clave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286500" y="3057525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análisis de correlación de Pearson reveló que las variables operan de manera independiente, lo que sugiere que cada una aporta valor único a la formación de clusters.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00825" y="4162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667500" y="41624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Distribución de edad centrada en los 38 años.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600825" y="4467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67500" y="44672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Equilibrio entre géneros y tipos de afiliación.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811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Optimización: El Método del Codo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5336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Búsqueda del K Óptimo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9432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 evaluó la inercia para diferentes valores de K (1-10) y el Score de Silueta (2-6).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7433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K=5 o K=6 proporcionan la mejor cohesión y separación.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54342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Silhouette Score para K=6: 0.3850</a:t>
            </a:r>
            <a:endParaRPr/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5"/>
          <a:srcRect/>
          <a:stretch/>
        </p:blipFill>
        <p:spPr>
          <a:xfrm>
            <a:off x="6460578" y="1900237"/>
            <a:ext cx="4985843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095375"/>
            <a:ext cx="12192000" cy="5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Segmentación por K-Means (K=5)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4765327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*Los porcentajes en la barra representan la intensidad de la edad promedio relativa en el grupo.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Perfilamiento de los 5 Segmentos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2133600"/>
            <a:ext cx="11049000" cy="3305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19"/>
          <p:cNvGraphicFramePr/>
          <p:nvPr/>
        </p:nvGraphicFramePr>
        <p:xfrm>
          <a:off x="571500" y="2133600"/>
          <a:ext cx="11049000" cy="3305125"/>
        </p:xfrm>
        <a:graphic>
          <a:graphicData uri="http://schemas.openxmlformats.org/drawingml/2006/table">
            <a:tbl>
              <a:tblPr firstRow="1" bandRow="1">
                <a:noFill/>
                <a:tableStyleId>{A2B04EDA-47A7-4FAA-9E3D-59AEE143B956}</a:tableStyleId>
              </a:tblPr>
              <a:tblGrid>
                <a:gridCol w="134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Cluster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Género Predominante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Edad Media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Afiliación Común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Estado Final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Femenino (0)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37.4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3.0 (Alta)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Masculino (1)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36.6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Masculino (1)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38.3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Silver/Conv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Femenino (0)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41.4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Silver/Conv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Femenino (0)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38.4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2" name="Google Shape;162;p19"/>
          <p:cNvSpPr/>
          <p:nvPr/>
        </p:nvSpPr>
        <p:spPr>
          <a:xfrm>
            <a:off x="571500" y="3252787"/>
            <a:ext cx="134957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1921073" y="3252787"/>
            <a:ext cx="324177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162847" y="3252787"/>
            <a:ext cx="191854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7081391" y="3252787"/>
            <a:ext cx="256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9648378" y="3252787"/>
            <a:ext cx="19721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71500" y="3795712"/>
            <a:ext cx="134957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921073" y="3795712"/>
            <a:ext cx="324177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162847" y="3795712"/>
            <a:ext cx="191854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081391" y="3795712"/>
            <a:ext cx="256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9648378" y="3795712"/>
            <a:ext cx="19721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4338637"/>
            <a:ext cx="134957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921073" y="4338637"/>
            <a:ext cx="324177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162847" y="4338637"/>
            <a:ext cx="191854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7081391" y="4338637"/>
            <a:ext cx="256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9648378" y="4338637"/>
            <a:ext cx="19721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4881562"/>
            <a:ext cx="134957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1921073" y="4881562"/>
            <a:ext cx="324177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162847" y="4881562"/>
            <a:ext cx="191854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081391" y="4881562"/>
            <a:ext cx="256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9648378" y="4881562"/>
            <a:ext cx="19721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5424487"/>
            <a:ext cx="134957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1921073" y="5424487"/>
            <a:ext cx="324177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162847" y="5424487"/>
            <a:ext cx="191854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081391" y="5424487"/>
            <a:ext cx="256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9648378" y="5424487"/>
            <a:ext cx="19721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811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DBSCAN: Detección de Densidad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3431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de Densidad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7527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diferencia de K-Means, DBSCAN identifica grupos por proximidad y detecta "ruido" o valores atípicos.</a:t>
            </a:r>
            <a:endParaRPr/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5"/>
          <a:srcRect/>
          <a:stretch/>
        </p:blipFill>
        <p:spPr>
          <a:xfrm>
            <a:off x="6535505" y="1900237"/>
            <a:ext cx="483599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885825" y="3552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52500" y="35528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Epsilon (1.0):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Radio de búsqueda.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85825" y="38576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52500" y="3857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Min Samples (5):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Mínimo para formar cluster.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85825" y="4162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41624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Identificó múltiples micro-segmentos y puntos de ruido (-1) que K-Means tiende a forzar en grupos mayores.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PCA: Reducción Dimensional</a:t>
            </a:r>
            <a:endParaRPr/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5"/>
          <a:srcRect/>
          <a:stretch/>
        </p:blipFill>
        <p:spPr>
          <a:xfrm>
            <a:off x="862637" y="1900237"/>
            <a:ext cx="4751726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6286500" y="262890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Simplificación del Espacio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286500" y="30384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Mediante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Análisis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Componentes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Principales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reducimos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las 4 variables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originales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2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dimensiones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espaciales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6286500" y="41148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Ventaja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Permite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visualizar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separación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lineal de los clusters de K-Means,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confirmando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validez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los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grupos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identificados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811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t-SNE: Relaciones No Lineales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24955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Afinidad y Estructura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29051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 algoritmo t-SNE es ideal para preservar las relaciones de vecindad locales en espacios de baja dimensión.</a:t>
            </a:r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5"/>
          <a:srcRect/>
          <a:stretch/>
        </p:blipFill>
        <p:spPr>
          <a:xfrm>
            <a:off x="6438900" y="1900237"/>
            <a:ext cx="50292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885825" y="3705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52500" y="37052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Revela una estructura mucho más compleja y entrelazada.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85825" y="43148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52500" y="4314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Muestra cómo el género actúa como un eje divisor fuerte en la topología de los datos.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4729"/>
            <a:ext cx="3555950" cy="1902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34729"/>
            <a:ext cx="3555950" cy="1902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834729"/>
            <a:ext cx="3556099" cy="190291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Conclusiones del Modelo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782638" y="3120479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Segmentación Sólida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57250" y="3568154"/>
            <a:ext cx="29844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K-Means con 5-6 grupos ofrece una visión accionable de la población de pacientes.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529089" y="3120479"/>
            <a:ext cx="31336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Insights de Género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4603700" y="3568154"/>
            <a:ext cx="29844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género es la variable de mayor peso en la separación de grupos iniciales.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275535" y="3120479"/>
            <a:ext cx="313382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Estabilidad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350150" y="3568154"/>
            <a:ext cx="29845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PCA y t-SNE validan que los clusters no son aleatorios, sino que obedecen a estructuras latentes.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Office PowerPoint</Application>
  <PresentationFormat>Panorámica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DM Sans</vt:lpstr>
      <vt:lpstr>Arial</vt:lpstr>
      <vt:lpstr>Calibri</vt:lpstr>
      <vt:lpstr>Merriweather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Adrian Fabricio PI</cp:lastModifiedBy>
  <cp:revision>1</cp:revision>
  <dcterms:modified xsi:type="dcterms:W3CDTF">2026-02-17T01:15:04Z</dcterms:modified>
</cp:coreProperties>
</file>